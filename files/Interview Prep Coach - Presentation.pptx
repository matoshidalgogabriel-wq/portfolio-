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3036B7A-1D24-40A6-9C43-92C5EFDC3B09}">
  <a:tblStyle styleId="{D3036B7A-1D24-40A6-9C43-92C5EFDC3B09}"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[0:00 — Face on camera or intro slide]</a:t>
            </a:r>
            <a:br>
              <a:rPr lang="en-US"/>
            </a:br>
            <a:br>
              <a:rPr lang="en-US"/>
            </a:br>
            <a:r>
              <a:rPr lang="en-US"/>
              <a:t>Hi Professor Iweriebor. This is our Group 2 AI Lab submission. We built a chatbot called Interview Prep Coach, and we're going to walk you through the problem, the solution, our design thinking process, and a live demo.</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 name="Shape 33"/>
        <p:cNvGrpSpPr/>
        <p:nvPr/>
      </p:nvGrpSpPr>
      <p:grpSpPr>
        <a:xfrm>
          <a:off x="0" y="0"/>
          <a:ext cx="0" cy="0"/>
          <a:chOff x="0" y="0"/>
          <a:chExt cx="0" cy="0"/>
        </a:xfrm>
      </p:grpSpPr>
      <p:sp>
        <p:nvSpPr>
          <p:cNvPr id="34" name="Google Shape;3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 name="Google Shape;35;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[0:15 — Problem Statement slide]</a:t>
            </a:r>
            <a:br>
              <a:rPr lang="en-US"/>
            </a:br>
            <a:br>
              <a:rPr lang="en-US"/>
            </a:br>
            <a:r>
              <a:rPr lang="en-US"/>
              <a:t>The problem.</a:t>
            </a:r>
            <a:br>
              <a:rPr lang="en-US"/>
            </a:br>
            <a:br>
              <a:rPr lang="en-US"/>
            </a:br>
            <a:r>
              <a:rPr lang="en-US"/>
              <a:t>Every one of us in Group 2 is a graduate student in AI/ML. Most of us are also on the job market right now. We noticed a shared pain point: preparing for AI and ML interviews is disorganized and lonely. You either buy a generic prep book that isn't role-specific, spend hours scrolling Reddit threads, or pay for a coach you can't really afford as a student. And when you do practice, you don't get real feedback. You just answer into the void.</a:t>
            </a:r>
            <a:br>
              <a:rPr lang="en-US"/>
            </a:br>
            <a:br>
              <a:rPr lang="en-US"/>
            </a:br>
            <a:r>
              <a:rPr lang="en-US"/>
              <a:t>The gap we wanted to close: candidates need role-specific practice questions AND honest feedback on their answers, both accessible instantly and available for free.</a:t>
            </a:r>
            <a:endParaRPr/>
          </a:p>
        </p:txBody>
      </p:sp>
      <p:sp>
        <p:nvSpPr>
          <p:cNvPr id="36" name="Google Shape;36;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 name="Google Shape;68;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[0:40 — Solution slide]</a:t>
            </a:r>
            <a:br>
              <a:rPr lang="en-US"/>
            </a:br>
            <a:br>
              <a:rPr lang="en-US"/>
            </a:br>
            <a:r>
              <a:rPr lang="en-US"/>
              <a:t>The solution.</a:t>
            </a:r>
            <a:br>
              <a:rPr lang="en-US"/>
            </a:br>
            <a:br>
              <a:rPr lang="en-US"/>
            </a:br>
            <a:r>
              <a:rPr lang="en-US"/>
              <a:t>Interview Prep Coach is a chatbot that does two things.</a:t>
            </a:r>
            <a:br>
              <a:rPr lang="en-US"/>
            </a:br>
            <a:br>
              <a:rPr lang="en-US"/>
            </a:br>
            <a:r>
              <a:rPr lang="en-US"/>
              <a:t>One: when you tell it your target role, company type, and experience level, it generates five realistic practice questions structured as a warm-up, two technical, one behavioral, and one curveball. Each question comes with a one-line hint on what interviewers actually look for.</a:t>
            </a:r>
            <a:br>
              <a:rPr lang="en-US"/>
            </a:br>
            <a:br>
              <a:rPr lang="en-US"/>
            </a:br>
            <a:r>
              <a:rPr lang="en-US"/>
              <a:t>Two: when you answer any of those questions, the bot evaluates your answer in four parts: what worked, what's missing, what to add, and a stronger version for reference. It won't give you a script to memorize because memorized answers sound fake in interviews. It coaches the thinking, not the words.</a:t>
            </a:r>
            <a:br>
              <a:rPr lang="en-US"/>
            </a:br>
            <a:br>
              <a:rPr lang="en-US"/>
            </a:br>
            <a:r>
              <a:rPr lang="en-US"/>
              <a:t>We built it on Chatbase, free tier, no code required. The bot's entire logic lives in one carefully written system prompt that enforces both structures.</a:t>
            </a:r>
            <a:endParaRPr/>
          </a:p>
        </p:txBody>
      </p:sp>
      <p:sp>
        <p:nvSpPr>
          <p:cNvPr id="69" name="Google Shape;69;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6" name="Google Shape;106;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[2:30 — Live demo — switch to Chatbase link]</a:t>
            </a:r>
            <a:br>
              <a:rPr lang="en-US"/>
            </a:br>
            <a:br>
              <a:rPr lang="en-US"/>
            </a:br>
            <a:r>
              <a:rPr lang="en-US"/>
              <a:t>Live demo.</a:t>
            </a:r>
            <a:br>
              <a:rPr lang="en-US"/>
            </a:br>
            <a:br>
              <a:rPr lang="en-US"/>
            </a:br>
            <a:r>
              <a:rPr lang="en-US"/>
              <a:t>Now I'll show it working. I'll type in a real scenario one of us actually has this week.</a:t>
            </a:r>
            <a:br>
              <a:rPr lang="en-US"/>
            </a:br>
            <a:br>
              <a:rPr lang="en-US"/>
            </a:br>
            <a:r>
              <a:rPr lang="en-US"/>
              <a:t>[Type into the bot]: "I have an ML Engineer interview at a fintech startup next Tuesday. I have about two years of experience. Give me practice questions."</a:t>
            </a:r>
            <a:br>
              <a:rPr lang="en-US"/>
            </a:br>
            <a:br>
              <a:rPr lang="en-US"/>
            </a:br>
            <a:r>
              <a:rPr lang="en-US"/>
              <a:t>[Wait for response, then narrate as it appears]:</a:t>
            </a:r>
            <a:br>
              <a:rPr lang="en-US"/>
            </a:br>
            <a:br>
              <a:rPr lang="en-US"/>
            </a:br>
            <a:r>
              <a:rPr lang="en-US"/>
              <a:t>You'll see the response comes in the exact structure the system prompt requires. A warm-up question about an ML project shipped end-to-end. Two technical questions specific to fintech, including one on fraud detection with class imbalance. A behavioral question. A curveball. Each with a one-line hint on what the interviewer is really evaluating.</a:t>
            </a:r>
            <a:br>
              <a:rPr lang="en-US"/>
            </a:br>
            <a:br>
              <a:rPr lang="en-US"/>
            </a:br>
            <a:r>
              <a:rPr lang="en-US"/>
              <a:t>[Point at the response]:</a:t>
            </a:r>
            <a:br>
              <a:rPr lang="en-US"/>
            </a:br>
            <a:br>
              <a:rPr lang="en-US"/>
            </a:br>
            <a:r>
              <a:rPr lang="en-US"/>
              <a:t>That last hint on question two is the piece that makes this bot different from any prep book. It doesn't just give you the question. It tells you what the interviewer is listening for.</a:t>
            </a:r>
            <a:endParaRPr/>
          </a:p>
        </p:txBody>
      </p:sp>
      <p:sp>
        <p:nvSpPr>
          <p:cNvPr id="107" name="Google Shape;107;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f4c04abce1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2" name="Google Shape;122;g3f4c04abce1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[2:30 — Live demo — switch to Chatbase link]</a:t>
            </a:r>
            <a:br>
              <a:rPr lang="en-US"/>
            </a:br>
            <a:br>
              <a:rPr lang="en-US"/>
            </a:br>
            <a:r>
              <a:rPr lang="en-US"/>
              <a:t>Live demo.</a:t>
            </a:r>
            <a:br>
              <a:rPr lang="en-US"/>
            </a:br>
            <a:br>
              <a:rPr lang="en-US"/>
            </a:br>
            <a:r>
              <a:rPr lang="en-US"/>
              <a:t>Now I'll show it working. I'll type in a real scenario one of us actually has this week.</a:t>
            </a:r>
            <a:br>
              <a:rPr lang="en-US"/>
            </a:br>
            <a:br>
              <a:rPr lang="en-US"/>
            </a:br>
            <a:r>
              <a:rPr lang="en-US"/>
              <a:t>[Type into the bot]: "I have an ML Engineer interview at a fintech startup next Tuesday. I have about two years of experience. Give me practice questions."</a:t>
            </a:r>
            <a:br>
              <a:rPr lang="en-US"/>
            </a:br>
            <a:br>
              <a:rPr lang="en-US"/>
            </a:br>
            <a:r>
              <a:rPr lang="en-US"/>
              <a:t>[Wait for response, then narrate as it appears]:</a:t>
            </a:r>
            <a:br>
              <a:rPr lang="en-US"/>
            </a:br>
            <a:br>
              <a:rPr lang="en-US"/>
            </a:br>
            <a:r>
              <a:rPr lang="en-US"/>
              <a:t>You'll see the response comes in the exact structure the system prompt requires. A warm-up question about an ML project shipped end-to-end. Two technical questions specific to fintech, including one on fraud detection with class imbalance. A behavioral question. A curveball. Each with a one-line hint on what the interviewer is really evaluating.</a:t>
            </a:r>
            <a:br>
              <a:rPr lang="en-US"/>
            </a:br>
            <a:br>
              <a:rPr lang="en-US"/>
            </a:br>
            <a:r>
              <a:rPr lang="en-US"/>
              <a:t>[Point at the response]:</a:t>
            </a:r>
            <a:br>
              <a:rPr lang="en-US"/>
            </a:br>
            <a:br>
              <a:rPr lang="en-US"/>
            </a:br>
            <a:r>
              <a:rPr lang="en-US"/>
              <a:t>That last hint on question two is the piece that makes this bot different from any prep book. It doesn't just give you the question. It tells you what the interviewer is listening for.</a:t>
            </a:r>
            <a:endParaRPr/>
          </a:p>
        </p:txBody>
      </p:sp>
      <p:sp>
        <p:nvSpPr>
          <p:cNvPr id="123" name="Google Shape;123;g3f4c04abce1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9" name="Google Shape;129;p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[1:15 — Design Thinking slide — 5 stages]</a:t>
            </a:r>
            <a:br>
              <a:rPr lang="en-US"/>
            </a:br>
            <a:br>
              <a:rPr lang="en-US"/>
            </a:br>
            <a:r>
              <a:rPr lang="en-US"/>
              <a:t>Design thinking.</a:t>
            </a:r>
            <a:br>
              <a:rPr lang="en-US"/>
            </a:br>
            <a:br>
              <a:rPr lang="en-US"/>
            </a:br>
            <a:r>
              <a:rPr lang="en-US"/>
              <a:t>We used all five stages of design thinking to get here.</a:t>
            </a:r>
            <a:br>
              <a:rPr lang="en-US"/>
            </a:br>
            <a:br>
              <a:rPr lang="en-US"/>
            </a:br>
            <a:r>
              <a:rPr lang="en-US"/>
              <a:t>Empathize. We started by mapping our own experience. Every team member had run into the same problem in the last six months. Two of us had interviews coming up. We also asked classmates outside our group. The consistent pattern: technical prep exists, but nobody gives structured practice with real feedback.</a:t>
            </a:r>
            <a:br>
              <a:rPr lang="en-US"/>
            </a:br>
            <a:br>
              <a:rPr lang="en-US"/>
            </a:br>
            <a:r>
              <a:rPr lang="en-US"/>
              <a:t>Define. We wrote the problem statement: as graduate AI students on the job market, we need a fast, role-specific way to practice interview questions and get honest feedback, so we can walk into interviews prepared instead of nervous. Success criteria: five questions in under thirty seconds, structured feedback in under a minute, and zero cost.</a:t>
            </a:r>
            <a:br>
              <a:rPr lang="en-US"/>
            </a:br>
            <a:br>
              <a:rPr lang="en-US"/>
            </a:br>
            <a:r>
              <a:rPr lang="en-US"/>
              <a:t>Ideate. We brainstormed four options. First, a flashcard app of interview questions — rejected because it can't give feedback. Second, a scraper that pulls Glassdoor questions — rejected because Glassdoor's terms don't allow that. Third, a chatbot with a structured prompt — selected. Fourth, a video course — rejected because production quality would take weeks.</a:t>
            </a:r>
            <a:br>
              <a:rPr lang="en-US"/>
            </a:br>
            <a:br>
              <a:rPr lang="en-US"/>
            </a:br>
            <a:r>
              <a:rPr lang="en-US"/>
              <a:t>Prototype. We built the prototype on Chatbase. The core design decision lives in the system prompt. It forces every response into a fixed structure. It requires the bot to ask for role and experience before generating anything. It blocks the bot from giving memorizable scripts, writing resumes, or answering off-topic questions. The prompt does the heavy lifting so the tool is stable no matter what the underlying language model happens to be.</a:t>
            </a:r>
            <a:br>
              <a:rPr lang="en-US"/>
            </a:br>
            <a:br>
              <a:rPr lang="en-US"/>
            </a:br>
            <a:r>
              <a:rPr lang="en-US"/>
              <a:t>Test. We ran six scenarios. A normal request, a missing information request, an unrelated adjacent request, a restricted request asking for scripted answers, a difficult situation where a user says their interview is tomorrow morning, and an accuracy test for whether the bot remembers what the user said earlier in the conversation. All six passed after two prompt revisions.</a:t>
            </a:r>
            <a:endParaRPr/>
          </a:p>
        </p:txBody>
      </p:sp>
      <p:sp>
        <p:nvSpPr>
          <p:cNvPr id="130" name="Google Shape;130;p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7" name="Google Shape;137;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[3:15 — Reflection slide]</a:t>
            </a:r>
            <a:br>
              <a:rPr lang="en-US"/>
            </a:br>
            <a:br>
              <a:rPr lang="en-US"/>
            </a:br>
            <a:r>
              <a:rPr lang="en-US"/>
              <a:t>What design thinking taught us.</a:t>
            </a:r>
            <a:br>
              <a:rPr lang="en-US"/>
            </a:br>
            <a:br>
              <a:rPr lang="en-US"/>
            </a:br>
            <a:r>
              <a:rPr lang="en-US"/>
              <a:t>Two things.</a:t>
            </a:r>
            <a:br>
              <a:rPr lang="en-US"/>
            </a:br>
            <a:br>
              <a:rPr lang="en-US"/>
            </a:br>
            <a:r>
              <a:rPr lang="en-US"/>
              <a:t>First, the empathize stage saved us from over-engineering. Our first instinct was to scrape Glassdoor and build a huge database of real interview questions. Talking to classmates told us that quantity of questions was not the problem. The problem was structure and feedback. That let us skip a two-week engineering build and ship a bot that solves the real pain in one hour.</a:t>
            </a:r>
            <a:br>
              <a:rPr lang="en-US"/>
            </a:br>
            <a:br>
              <a:rPr lang="en-US"/>
            </a:br>
            <a:r>
              <a:rPr lang="en-US"/>
              <a:t>Second, the prototype-test loop caught two prompt problems that would have made the bot useless. Version one gave scripted answers users could memorize, which is exactly what we didn't want. Version two had generic follow-up questions that could apply to any role. Iteration fixed both.</a:t>
            </a:r>
            <a:endParaRPr/>
          </a:p>
        </p:txBody>
      </p:sp>
      <p:sp>
        <p:nvSpPr>
          <p:cNvPr id="138" name="Google Shape;138;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f4c04abce1_0_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4" name="Google Shape;154;g3f4c04abce1_0_6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[3:15 — Reflection slide]</a:t>
            </a:r>
            <a:br>
              <a:rPr lang="en-US"/>
            </a:br>
            <a:br>
              <a:rPr lang="en-US"/>
            </a:br>
            <a:r>
              <a:rPr lang="en-US"/>
              <a:t>What design thinking taught us.</a:t>
            </a:r>
            <a:br>
              <a:rPr lang="en-US"/>
            </a:br>
            <a:br>
              <a:rPr lang="en-US"/>
            </a:br>
            <a:r>
              <a:rPr lang="en-US"/>
              <a:t>Two things.</a:t>
            </a:r>
            <a:br>
              <a:rPr lang="en-US"/>
            </a:br>
            <a:br>
              <a:rPr lang="en-US"/>
            </a:br>
            <a:r>
              <a:rPr lang="en-US"/>
              <a:t>First, the empathize stage saved us from over-engineering. Our first instinct was to scrape Glassdoor and build a huge database of real interview questions. Talking to classmates told us that quantity of questions was not the problem. The problem was structure and feedback. That let us skip a two-week engineering build and ship a bot that solves the real pain in one hour.</a:t>
            </a:r>
            <a:br>
              <a:rPr lang="en-US"/>
            </a:br>
            <a:br>
              <a:rPr lang="en-US"/>
            </a:br>
            <a:r>
              <a:rPr lang="en-US"/>
              <a:t>Second, the prototype-test loop caught two prompt problems that would have made the bot useless. Version one gave scripted answers users could memorize, which is exactly what we didn't want. Version two had generic follow-up questions that could apply to any role. Iteration fixed both.</a:t>
            </a:r>
            <a:endParaRPr/>
          </a:p>
        </p:txBody>
      </p:sp>
      <p:sp>
        <p:nvSpPr>
          <p:cNvPr id="155" name="Google Shape;155;g3f4c04abce1_0_6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0" name="Google Shape;160;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[3:45 — Closing]</a:t>
            </a:r>
            <a:br>
              <a:rPr lang="en-US"/>
            </a:br>
            <a:br>
              <a:rPr lang="en-US"/>
            </a:br>
            <a:r>
              <a:rPr lang="en-US"/>
              <a:t>Limits and what's next.</a:t>
            </a:r>
            <a:br>
              <a:rPr lang="en-US"/>
            </a:br>
            <a:br>
              <a:rPr lang="en-US"/>
            </a:br>
            <a:r>
              <a:rPr lang="en-US"/>
              <a:t>The main limitation of the current version is that it doesn't cite sources. If a candidate asks about a specific company's real interview process, the bot can't verify anything. A future version would add a retrieval layer over public Glassdoor and Levels.fyi data, so the bot could ground its answers in real reported experiences.</a:t>
            </a:r>
            <a:br>
              <a:rPr lang="en-US"/>
            </a:br>
            <a:br>
              <a:rPr lang="en-US"/>
            </a:br>
            <a:r>
              <a:rPr lang="en-US"/>
              <a:t>Our public working link is in the submission folder. The written documentation covers the ten planning questions, our privacy and terms review, and every test scenario. Thanks for watching.</a:t>
            </a:r>
            <a:endParaRPr/>
          </a:p>
        </p:txBody>
      </p:sp>
      <p:sp>
        <p:nvSpPr>
          <p:cNvPr id="161" name="Google Shape;161;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www.chatbase.co/B_hX8l5FC4GH_uthtMgUL/help"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3F"/>
        </a:solidFill>
      </p:bgPr>
    </p:bg>
    <p:spTree>
      <p:nvGrpSpPr>
        <p:cNvPr id="15" name="Shape 15"/>
        <p:cNvGrpSpPr/>
        <p:nvPr/>
      </p:nvGrpSpPr>
      <p:grpSpPr>
        <a:xfrm>
          <a:off x="0" y="0"/>
          <a:ext cx="0" cy="0"/>
          <a:chOff x="0" y="0"/>
          <a:chExt cx="0" cy="0"/>
        </a:xfrm>
      </p:grpSpPr>
      <p:sp>
        <p:nvSpPr>
          <p:cNvPr id="16" name="Google Shape;16;p3"/>
          <p:cNvSpPr/>
          <p:nvPr/>
        </p:nvSpPr>
        <p:spPr>
          <a:xfrm>
            <a:off x="685800" y="777240"/>
            <a:ext cx="2377440" cy="365760"/>
          </a:xfrm>
          <a:prstGeom prst="roundRect">
            <a:avLst>
              <a:gd fmla="val 50000" name="adj"/>
            </a:avLst>
          </a:prstGeom>
          <a:solidFill>
            <a:srgbClr val="F96167"/>
          </a:solidFill>
          <a:ln cap="flat" cmpd="sng" w="12700">
            <a:solidFill>
              <a:srgbClr val="F9616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3"/>
          <p:cNvSpPr/>
          <p:nvPr/>
        </p:nvSpPr>
        <p:spPr>
          <a:xfrm>
            <a:off x="685800" y="777240"/>
            <a:ext cx="23775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500" u="none" cap="none" strike="noStrike">
                <a:solidFill>
                  <a:srgbClr val="FFFFFF"/>
                </a:solidFill>
                <a:latin typeface="Calibri"/>
                <a:ea typeface="Calibri"/>
                <a:cs typeface="Calibri"/>
                <a:sym typeface="Calibri"/>
              </a:rPr>
              <a:t>GROUP 2 · AIML-500 · 1.4</a:t>
            </a:r>
            <a:endParaRPr b="0" i="0" sz="1500" u="none" cap="none" strike="noStrike">
              <a:solidFill>
                <a:schemeClr val="dk1"/>
              </a:solidFill>
              <a:latin typeface="Calibri"/>
              <a:ea typeface="Calibri"/>
              <a:cs typeface="Calibri"/>
              <a:sym typeface="Calibri"/>
            </a:endParaRPr>
          </a:p>
        </p:txBody>
      </p:sp>
      <p:sp>
        <p:nvSpPr>
          <p:cNvPr id="18" name="Google Shape;18;p3"/>
          <p:cNvSpPr/>
          <p:nvPr/>
        </p:nvSpPr>
        <p:spPr>
          <a:xfrm>
            <a:off x="685800" y="1554480"/>
            <a:ext cx="10789920" cy="11887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6000"/>
              <a:buFont typeface="Cambria"/>
              <a:buNone/>
            </a:pPr>
            <a:r>
              <a:rPr b="1" i="0" lang="en-US" sz="6000" u="none" cap="none" strike="noStrike">
                <a:solidFill>
                  <a:srgbClr val="FFFFFF"/>
                </a:solidFill>
                <a:latin typeface="Cambria"/>
                <a:ea typeface="Cambria"/>
                <a:cs typeface="Cambria"/>
                <a:sym typeface="Cambria"/>
              </a:rPr>
              <a:t>Interview Prep Coach</a:t>
            </a:r>
            <a:br>
              <a:rPr b="1" i="0" lang="en-US" sz="6000" u="none" cap="none" strike="noStrike">
                <a:solidFill>
                  <a:srgbClr val="FFFFFF"/>
                </a:solidFill>
                <a:latin typeface="Cambria"/>
                <a:ea typeface="Cambria"/>
                <a:cs typeface="Cambria"/>
                <a:sym typeface="Cambria"/>
              </a:rPr>
            </a:br>
            <a:r>
              <a:rPr b="1" i="0" lang="en-US" sz="2700" u="none" cap="none" strike="noStrike">
                <a:solidFill>
                  <a:srgbClr val="FFFFFF"/>
                </a:solidFill>
                <a:latin typeface="Cambria"/>
                <a:ea typeface="Cambria"/>
                <a:cs typeface="Cambria"/>
                <a:sym typeface="Cambria"/>
              </a:rPr>
              <a:t>Link to Bo</a:t>
            </a:r>
            <a:r>
              <a:rPr b="1" lang="en-US" sz="2700">
                <a:solidFill>
                  <a:srgbClr val="FFFFFF"/>
                </a:solidFill>
                <a:latin typeface="Cambria"/>
                <a:ea typeface="Cambria"/>
                <a:cs typeface="Cambria"/>
                <a:sym typeface="Cambria"/>
              </a:rPr>
              <a:t>t - </a:t>
            </a:r>
            <a:r>
              <a:rPr lang="en-US" sz="2100" u="sng">
                <a:solidFill>
                  <a:srgbClr val="FFFF00"/>
                </a:solidFill>
                <a:hlinkClick r:id="rId3">
                  <a:extLst>
                    <a:ext uri="{A12FA001-AC4F-418D-AE19-62706E023703}">
                      <ahyp:hlinkClr val="tx"/>
                    </a:ext>
                  </a:extLst>
                </a:hlinkClick>
              </a:rPr>
              <a:t>Interview Prep</a:t>
            </a:r>
            <a:endParaRPr b="0" i="0" sz="3700" u="none" cap="none" strike="noStrike">
              <a:solidFill>
                <a:srgbClr val="FFFF00"/>
              </a:solidFill>
              <a:latin typeface="Calibri"/>
              <a:ea typeface="Calibri"/>
              <a:cs typeface="Calibri"/>
              <a:sym typeface="Calibri"/>
            </a:endParaRPr>
          </a:p>
        </p:txBody>
      </p:sp>
      <p:sp>
        <p:nvSpPr>
          <p:cNvPr id="19" name="Google Shape;19;p3"/>
          <p:cNvSpPr/>
          <p:nvPr/>
        </p:nvSpPr>
        <p:spPr>
          <a:xfrm>
            <a:off x="685800" y="2788920"/>
            <a:ext cx="107899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2200"/>
              <a:buFont typeface="Calibri"/>
              <a:buNone/>
            </a:pPr>
            <a:r>
              <a:rPr b="0" i="1" lang="en-US" sz="2200" u="none" cap="none" strike="noStrike">
                <a:solidFill>
                  <a:srgbClr val="CADCFC"/>
                </a:solidFill>
                <a:latin typeface="Calibri"/>
                <a:ea typeface="Calibri"/>
                <a:cs typeface="Calibri"/>
                <a:sym typeface="Calibri"/>
              </a:rPr>
              <a:t>A design-thinking chatbot for AI, ML, and Data interview practice.</a:t>
            </a:r>
            <a:endParaRPr b="0" i="0" sz="2200" u="none" cap="none" strike="noStrike">
              <a:solidFill>
                <a:schemeClr val="dk1"/>
              </a:solidFill>
              <a:latin typeface="Calibri"/>
              <a:ea typeface="Calibri"/>
              <a:cs typeface="Calibri"/>
              <a:sym typeface="Calibri"/>
            </a:endParaRPr>
          </a:p>
        </p:txBody>
      </p:sp>
      <p:sp>
        <p:nvSpPr>
          <p:cNvPr id="20" name="Google Shape;20;p3"/>
          <p:cNvSpPr/>
          <p:nvPr/>
        </p:nvSpPr>
        <p:spPr>
          <a:xfrm>
            <a:off x="685800" y="4023360"/>
            <a:ext cx="2148840" cy="502920"/>
          </a:xfrm>
          <a:prstGeom prst="roundRect">
            <a:avLst>
              <a:gd fmla="val 27273" name="adj"/>
            </a:avLst>
          </a:prstGeom>
          <a:solidFill>
            <a:srgbClr val="1E2761"/>
          </a:solidFill>
          <a:ln cap="flat" cmpd="sng" w="12700">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3"/>
          <p:cNvSpPr/>
          <p:nvPr/>
        </p:nvSpPr>
        <p:spPr>
          <a:xfrm>
            <a:off x="685800" y="4023360"/>
            <a:ext cx="214884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Problem</a:t>
            </a:r>
            <a:endParaRPr b="0" i="0" sz="1300" u="none" cap="none" strike="noStrike">
              <a:solidFill>
                <a:schemeClr val="dk1"/>
              </a:solidFill>
              <a:latin typeface="Calibri"/>
              <a:ea typeface="Calibri"/>
              <a:cs typeface="Calibri"/>
              <a:sym typeface="Calibri"/>
            </a:endParaRPr>
          </a:p>
        </p:txBody>
      </p:sp>
      <p:sp>
        <p:nvSpPr>
          <p:cNvPr id="22" name="Google Shape;22;p3"/>
          <p:cNvSpPr/>
          <p:nvPr/>
        </p:nvSpPr>
        <p:spPr>
          <a:xfrm>
            <a:off x="2971800" y="4023360"/>
            <a:ext cx="2148840" cy="502920"/>
          </a:xfrm>
          <a:prstGeom prst="roundRect">
            <a:avLst>
              <a:gd fmla="val 27273" name="adj"/>
            </a:avLst>
          </a:prstGeom>
          <a:solidFill>
            <a:srgbClr val="1E2761"/>
          </a:solidFill>
          <a:ln cap="flat" cmpd="sng" w="12700">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a:off x="2971800" y="4023360"/>
            <a:ext cx="214884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Solution</a:t>
            </a:r>
            <a:endParaRPr b="0" i="0" sz="1300" u="none" cap="none" strike="noStrike">
              <a:solidFill>
                <a:schemeClr val="dk1"/>
              </a:solidFill>
              <a:latin typeface="Calibri"/>
              <a:ea typeface="Calibri"/>
              <a:cs typeface="Calibri"/>
              <a:sym typeface="Calibri"/>
            </a:endParaRPr>
          </a:p>
        </p:txBody>
      </p:sp>
      <p:sp>
        <p:nvSpPr>
          <p:cNvPr id="24" name="Google Shape;24;p3"/>
          <p:cNvSpPr/>
          <p:nvPr/>
        </p:nvSpPr>
        <p:spPr>
          <a:xfrm>
            <a:off x="5257800" y="4023360"/>
            <a:ext cx="2148840" cy="502920"/>
          </a:xfrm>
          <a:prstGeom prst="roundRect">
            <a:avLst>
              <a:gd fmla="val 27273" name="adj"/>
            </a:avLst>
          </a:prstGeom>
          <a:solidFill>
            <a:srgbClr val="1E2761"/>
          </a:solidFill>
          <a:ln cap="flat" cmpd="sng" w="12700">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a:off x="5257800" y="4023360"/>
            <a:ext cx="214884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Design Thinking</a:t>
            </a:r>
            <a:endParaRPr b="0" i="0" sz="1300" u="none" cap="none" strike="noStrike">
              <a:solidFill>
                <a:schemeClr val="dk1"/>
              </a:solidFill>
              <a:latin typeface="Calibri"/>
              <a:ea typeface="Calibri"/>
              <a:cs typeface="Calibri"/>
              <a:sym typeface="Calibri"/>
            </a:endParaRPr>
          </a:p>
        </p:txBody>
      </p:sp>
      <p:sp>
        <p:nvSpPr>
          <p:cNvPr id="26" name="Google Shape;26;p3"/>
          <p:cNvSpPr/>
          <p:nvPr/>
        </p:nvSpPr>
        <p:spPr>
          <a:xfrm>
            <a:off x="7543800" y="4023360"/>
            <a:ext cx="2148840" cy="502920"/>
          </a:xfrm>
          <a:prstGeom prst="roundRect">
            <a:avLst>
              <a:gd fmla="val 27273" name="adj"/>
            </a:avLst>
          </a:prstGeom>
          <a:solidFill>
            <a:srgbClr val="1E2761"/>
          </a:solidFill>
          <a:ln cap="flat" cmpd="sng" w="12700">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a:off x="7543800" y="4023360"/>
            <a:ext cx="214884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Live Demo</a:t>
            </a:r>
            <a:endParaRPr b="0" i="0" sz="1300" u="none" cap="none" strike="noStrike">
              <a:solidFill>
                <a:schemeClr val="dk1"/>
              </a:solidFill>
              <a:latin typeface="Calibri"/>
              <a:ea typeface="Calibri"/>
              <a:cs typeface="Calibri"/>
              <a:sym typeface="Calibri"/>
            </a:endParaRPr>
          </a:p>
        </p:txBody>
      </p:sp>
      <p:sp>
        <p:nvSpPr>
          <p:cNvPr id="28" name="Google Shape;28;p3"/>
          <p:cNvSpPr/>
          <p:nvPr/>
        </p:nvSpPr>
        <p:spPr>
          <a:xfrm>
            <a:off x="9829800" y="4023360"/>
            <a:ext cx="2148840" cy="502920"/>
          </a:xfrm>
          <a:prstGeom prst="roundRect">
            <a:avLst>
              <a:gd fmla="val 27273" name="adj"/>
            </a:avLst>
          </a:prstGeom>
          <a:solidFill>
            <a:srgbClr val="1E2761"/>
          </a:solidFill>
          <a:ln cap="flat" cmpd="sng" w="12700">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a:off x="9829800" y="4023360"/>
            <a:ext cx="214884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Reflection</a:t>
            </a:r>
            <a:endParaRPr b="0" i="0" sz="1300" u="none" cap="none" strike="noStrike">
              <a:solidFill>
                <a:schemeClr val="dk1"/>
              </a:solidFill>
              <a:latin typeface="Calibri"/>
              <a:ea typeface="Calibri"/>
              <a:cs typeface="Calibri"/>
              <a:sym typeface="Calibri"/>
            </a:endParaRPr>
          </a:p>
        </p:txBody>
      </p:sp>
      <p:sp>
        <p:nvSpPr>
          <p:cNvPr id="30" name="Google Shape;30;p3"/>
          <p:cNvSpPr/>
          <p:nvPr/>
        </p:nvSpPr>
        <p:spPr>
          <a:xfrm>
            <a:off x="685800" y="5089074"/>
            <a:ext cx="16341900" cy="484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969"/>
              <a:buFont typeface="Calibri"/>
              <a:buNone/>
            </a:pPr>
            <a:r>
              <a:rPr b="0" i="0" lang="en-US" sz="1969" u="none" cap="none" strike="noStrike">
                <a:solidFill>
                  <a:srgbClr val="FFFFFF"/>
                </a:solidFill>
                <a:latin typeface="Calibri"/>
                <a:ea typeface="Calibri"/>
                <a:cs typeface="Calibri"/>
                <a:sym typeface="Calibri"/>
              </a:rPr>
              <a:t>Group 2:  Raja Narender Reddy Lingaladinne · Ankita Chandra · Gabriel Matos · Ayesha Fayyaz</a:t>
            </a:r>
            <a:endParaRPr b="0" i="0" sz="1969" u="none" cap="none" strike="noStrike">
              <a:solidFill>
                <a:schemeClr val="dk1"/>
              </a:solidFill>
              <a:latin typeface="Calibri"/>
              <a:ea typeface="Calibri"/>
              <a:cs typeface="Calibri"/>
              <a:sym typeface="Calibri"/>
            </a:endParaRPr>
          </a:p>
        </p:txBody>
      </p:sp>
      <p:sp>
        <p:nvSpPr>
          <p:cNvPr id="31" name="Google Shape;31;p3"/>
          <p:cNvSpPr/>
          <p:nvPr/>
        </p:nvSpPr>
        <p:spPr>
          <a:xfrm>
            <a:off x="685800" y="5504561"/>
            <a:ext cx="16341900" cy="484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969"/>
              <a:buFont typeface="Calibri"/>
              <a:buNone/>
            </a:pPr>
            <a:r>
              <a:rPr b="0" i="0" lang="en-US" sz="1969" u="none" cap="none" strike="noStrike">
                <a:solidFill>
                  <a:srgbClr val="FFFFFF"/>
                </a:solidFill>
                <a:latin typeface="Calibri"/>
                <a:ea typeface="Calibri"/>
                <a:cs typeface="Calibri"/>
                <a:sym typeface="Calibri"/>
              </a:rPr>
              <a:t>Charishma Chundu · Neha Mudiraj Light · Sai Sri Gottapu · Rithish Reddy Gosukonda</a:t>
            </a:r>
            <a:endParaRPr b="0" i="0" sz="1969" u="none" cap="none" strike="noStrike">
              <a:solidFill>
                <a:schemeClr val="dk1"/>
              </a:solidFill>
              <a:latin typeface="Calibri"/>
              <a:ea typeface="Calibri"/>
              <a:cs typeface="Calibri"/>
              <a:sym typeface="Calibri"/>
            </a:endParaRPr>
          </a:p>
        </p:txBody>
      </p:sp>
      <p:sp>
        <p:nvSpPr>
          <p:cNvPr id="32" name="Google Shape;32;p3"/>
          <p:cNvSpPr/>
          <p:nvPr/>
        </p:nvSpPr>
        <p:spPr>
          <a:xfrm>
            <a:off x="685800" y="6172200"/>
            <a:ext cx="107899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200"/>
              <a:buFont typeface="Calibri"/>
              <a:buNone/>
            </a:pPr>
            <a:r>
              <a:rPr b="0" i="0" lang="en-US" sz="1200" u="none" cap="none" strike="noStrike">
                <a:solidFill>
                  <a:srgbClr val="CADCFC"/>
                </a:solidFill>
                <a:latin typeface="Calibri"/>
                <a:ea typeface="Calibri"/>
                <a:cs typeface="Calibri"/>
                <a:sym typeface="Calibri"/>
              </a:rPr>
              <a:t>Professor Lawrence Iweriebor  ·  Workshop One  ·  July 12, 2026</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 name="Shape 37"/>
        <p:cNvGrpSpPr/>
        <p:nvPr/>
      </p:nvGrpSpPr>
      <p:grpSpPr>
        <a:xfrm>
          <a:off x="0" y="0"/>
          <a:ext cx="0" cy="0"/>
          <a:chOff x="0" y="0"/>
          <a:chExt cx="0" cy="0"/>
        </a:xfrm>
      </p:grpSpPr>
      <p:sp>
        <p:nvSpPr>
          <p:cNvPr id="38" name="Google Shape;38;p4"/>
          <p:cNvSpPr/>
          <p:nvPr/>
        </p:nvSpPr>
        <p:spPr>
          <a:xfrm>
            <a:off x="685800" y="457200"/>
            <a:ext cx="109728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4000"/>
              <a:buFont typeface="Cambria"/>
              <a:buNone/>
            </a:pPr>
            <a:r>
              <a:rPr b="1" i="0" lang="en-US" sz="4000" u="none" cap="none" strike="noStrike">
                <a:solidFill>
                  <a:srgbClr val="1E2761"/>
                </a:solidFill>
                <a:latin typeface="Cambria"/>
                <a:ea typeface="Cambria"/>
                <a:cs typeface="Cambria"/>
                <a:sym typeface="Cambria"/>
              </a:rPr>
              <a:t>The Problem</a:t>
            </a:r>
            <a:endParaRPr b="0" i="0" sz="4000" u="none" cap="none" strike="noStrike">
              <a:solidFill>
                <a:schemeClr val="dk1"/>
              </a:solidFill>
              <a:latin typeface="Calibri"/>
              <a:ea typeface="Calibri"/>
              <a:cs typeface="Calibri"/>
              <a:sym typeface="Calibri"/>
            </a:endParaRPr>
          </a:p>
        </p:txBody>
      </p:sp>
      <p:sp>
        <p:nvSpPr>
          <p:cNvPr id="39" name="Google Shape;39;p4"/>
          <p:cNvSpPr/>
          <p:nvPr/>
        </p:nvSpPr>
        <p:spPr>
          <a:xfrm>
            <a:off x="685800" y="1143000"/>
            <a:ext cx="109728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C"/>
              </a:buClr>
              <a:buSzPts val="2000"/>
              <a:buFont typeface="Calibri"/>
              <a:buNone/>
            </a:pPr>
            <a:r>
              <a:rPr b="0" i="1" lang="en-US" sz="2000" u="none" cap="none" strike="noStrike">
                <a:solidFill>
                  <a:srgbClr val="5A6B8C"/>
                </a:solidFill>
                <a:latin typeface="Calibri"/>
                <a:ea typeface="Calibri"/>
                <a:cs typeface="Calibri"/>
                <a:sym typeface="Calibri"/>
              </a:rPr>
              <a:t>Preparing for AI and ML interviews is disorganized and lonely.</a:t>
            </a:r>
            <a:endParaRPr b="0" i="0" sz="2000" u="none" cap="none" strike="noStrike">
              <a:solidFill>
                <a:schemeClr val="dk1"/>
              </a:solidFill>
              <a:latin typeface="Calibri"/>
              <a:ea typeface="Calibri"/>
              <a:cs typeface="Calibri"/>
              <a:sym typeface="Calibri"/>
            </a:endParaRPr>
          </a:p>
        </p:txBody>
      </p:sp>
      <p:sp>
        <p:nvSpPr>
          <p:cNvPr id="40" name="Google Shape;40;p4"/>
          <p:cNvSpPr/>
          <p:nvPr/>
        </p:nvSpPr>
        <p:spPr>
          <a:xfrm>
            <a:off x="685800" y="1965960"/>
            <a:ext cx="5532120" cy="4480560"/>
          </a:xfrm>
          <a:prstGeom prst="roundRect">
            <a:avLst>
              <a:gd fmla="val 3061" name="adj"/>
            </a:avLst>
          </a:prstGeom>
          <a:solidFill>
            <a:srgbClr val="F4F6FB"/>
          </a:solidFill>
          <a:ln cap="flat" cmpd="sng" w="12700">
            <a:solidFill>
              <a:srgbClr val="F4F6F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4"/>
          <p:cNvSpPr/>
          <p:nvPr/>
        </p:nvSpPr>
        <p:spPr>
          <a:xfrm>
            <a:off x="914400" y="2148840"/>
            <a:ext cx="51206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2000"/>
              <a:buFont typeface="Cambria"/>
              <a:buNone/>
            </a:pPr>
            <a:r>
              <a:rPr b="1" i="0" lang="en-US" sz="2000" u="none" cap="none" strike="noStrike">
                <a:solidFill>
                  <a:srgbClr val="1E2761"/>
                </a:solidFill>
                <a:latin typeface="Cambria"/>
                <a:ea typeface="Cambria"/>
                <a:cs typeface="Cambria"/>
                <a:sym typeface="Cambria"/>
              </a:rPr>
              <a:t>Every option today falls short</a:t>
            </a:r>
            <a:endParaRPr b="0" i="0" sz="2000" u="none" cap="none" strike="noStrike">
              <a:solidFill>
                <a:schemeClr val="dk1"/>
              </a:solidFill>
              <a:latin typeface="Calibri"/>
              <a:ea typeface="Calibri"/>
              <a:cs typeface="Calibri"/>
              <a:sym typeface="Calibri"/>
            </a:endParaRPr>
          </a:p>
        </p:txBody>
      </p:sp>
      <p:sp>
        <p:nvSpPr>
          <p:cNvPr id="42" name="Google Shape;42;p4"/>
          <p:cNvSpPr/>
          <p:nvPr/>
        </p:nvSpPr>
        <p:spPr>
          <a:xfrm>
            <a:off x="914400" y="2788920"/>
            <a:ext cx="320040" cy="320040"/>
          </a:xfrm>
          <a:prstGeom prst="ellipse">
            <a:avLst/>
          </a:prstGeom>
          <a:solidFill>
            <a:srgbClr val="F96167"/>
          </a:solidFill>
          <a:ln cap="flat" cmpd="sng" w="12700">
            <a:solidFill>
              <a:srgbClr val="F9616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4"/>
          <p:cNvSpPr/>
          <p:nvPr/>
        </p:nvSpPr>
        <p:spPr>
          <a:xfrm>
            <a:off x="914400" y="2788920"/>
            <a:ext cx="32004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a:t>
            </a:r>
            <a:endParaRPr b="0" i="0" sz="1800" u="none" cap="none" strike="noStrike">
              <a:solidFill>
                <a:schemeClr val="dk1"/>
              </a:solidFill>
              <a:latin typeface="Calibri"/>
              <a:ea typeface="Calibri"/>
              <a:cs typeface="Calibri"/>
              <a:sym typeface="Calibri"/>
            </a:endParaRPr>
          </a:p>
        </p:txBody>
      </p:sp>
      <p:sp>
        <p:nvSpPr>
          <p:cNvPr id="44" name="Google Shape;44;p4"/>
          <p:cNvSpPr/>
          <p:nvPr/>
        </p:nvSpPr>
        <p:spPr>
          <a:xfrm>
            <a:off x="1371600" y="2743200"/>
            <a:ext cx="47091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500"/>
              <a:buFont typeface="Cambria"/>
              <a:buNone/>
            </a:pPr>
            <a:r>
              <a:rPr b="1" i="0" lang="en-US" sz="1500" u="none" cap="none" strike="noStrike">
                <a:solidFill>
                  <a:srgbClr val="1E2761"/>
                </a:solidFill>
                <a:latin typeface="Cambria"/>
                <a:ea typeface="Cambria"/>
                <a:cs typeface="Cambria"/>
                <a:sym typeface="Cambria"/>
              </a:rPr>
              <a:t>Generic prep books</a:t>
            </a:r>
            <a:endParaRPr b="0" i="0" sz="1500" u="none" cap="none" strike="noStrike">
              <a:solidFill>
                <a:schemeClr val="dk1"/>
              </a:solidFill>
              <a:latin typeface="Calibri"/>
              <a:ea typeface="Calibri"/>
              <a:cs typeface="Calibri"/>
              <a:sym typeface="Calibri"/>
            </a:endParaRPr>
          </a:p>
        </p:txBody>
      </p:sp>
      <p:sp>
        <p:nvSpPr>
          <p:cNvPr id="45" name="Google Shape;45;p4"/>
          <p:cNvSpPr/>
          <p:nvPr/>
        </p:nvSpPr>
        <p:spPr>
          <a:xfrm>
            <a:off x="1371600" y="3108960"/>
            <a:ext cx="470916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2761"/>
              </a:buClr>
              <a:buSzPts val="1200"/>
              <a:buFont typeface="Calibri"/>
              <a:buNone/>
            </a:pPr>
            <a:r>
              <a:rPr b="0" i="0" lang="en-US" sz="1200" u="none" cap="none" strike="noStrike">
                <a:solidFill>
                  <a:srgbClr val="1E2761"/>
                </a:solidFill>
                <a:latin typeface="Calibri"/>
                <a:ea typeface="Calibri"/>
                <a:cs typeface="Calibri"/>
                <a:sym typeface="Calibri"/>
              </a:rPr>
              <a:t>Not role-specific. ML Engineer at a startup and Data Scientist at big tech are completely different interviews.</a:t>
            </a:r>
            <a:endParaRPr b="0" i="0" sz="1200" u="none" cap="none" strike="noStrike">
              <a:solidFill>
                <a:schemeClr val="dk1"/>
              </a:solidFill>
              <a:latin typeface="Calibri"/>
              <a:ea typeface="Calibri"/>
              <a:cs typeface="Calibri"/>
              <a:sym typeface="Calibri"/>
            </a:endParaRPr>
          </a:p>
        </p:txBody>
      </p:sp>
      <p:sp>
        <p:nvSpPr>
          <p:cNvPr id="46" name="Google Shape;46;p4"/>
          <p:cNvSpPr/>
          <p:nvPr/>
        </p:nvSpPr>
        <p:spPr>
          <a:xfrm>
            <a:off x="914400" y="3703320"/>
            <a:ext cx="320040" cy="320040"/>
          </a:xfrm>
          <a:prstGeom prst="ellipse">
            <a:avLst/>
          </a:prstGeom>
          <a:solidFill>
            <a:srgbClr val="F96167"/>
          </a:solidFill>
          <a:ln cap="flat" cmpd="sng" w="12700">
            <a:solidFill>
              <a:srgbClr val="F9616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4"/>
          <p:cNvSpPr/>
          <p:nvPr/>
        </p:nvSpPr>
        <p:spPr>
          <a:xfrm>
            <a:off x="914400" y="3703320"/>
            <a:ext cx="32004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a:t>
            </a:r>
            <a:endParaRPr b="0" i="0" sz="1800" u="none" cap="none" strike="noStrike">
              <a:solidFill>
                <a:schemeClr val="dk1"/>
              </a:solidFill>
              <a:latin typeface="Calibri"/>
              <a:ea typeface="Calibri"/>
              <a:cs typeface="Calibri"/>
              <a:sym typeface="Calibri"/>
            </a:endParaRPr>
          </a:p>
        </p:txBody>
      </p:sp>
      <p:sp>
        <p:nvSpPr>
          <p:cNvPr id="48" name="Google Shape;48;p4"/>
          <p:cNvSpPr/>
          <p:nvPr/>
        </p:nvSpPr>
        <p:spPr>
          <a:xfrm>
            <a:off x="1371600" y="3657600"/>
            <a:ext cx="47091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500"/>
              <a:buFont typeface="Cambria"/>
              <a:buNone/>
            </a:pPr>
            <a:r>
              <a:rPr b="1" i="0" lang="en-US" sz="1500" u="none" cap="none" strike="noStrike">
                <a:solidFill>
                  <a:srgbClr val="1E2761"/>
                </a:solidFill>
                <a:latin typeface="Cambria"/>
                <a:ea typeface="Cambria"/>
                <a:cs typeface="Cambria"/>
                <a:sym typeface="Cambria"/>
              </a:rPr>
              <a:t>Reddit and Glassdoor threads</a:t>
            </a:r>
            <a:endParaRPr b="0" i="0" sz="1500" u="none" cap="none" strike="noStrike">
              <a:solidFill>
                <a:schemeClr val="dk1"/>
              </a:solidFill>
              <a:latin typeface="Calibri"/>
              <a:ea typeface="Calibri"/>
              <a:cs typeface="Calibri"/>
              <a:sym typeface="Calibri"/>
            </a:endParaRPr>
          </a:p>
        </p:txBody>
      </p:sp>
      <p:sp>
        <p:nvSpPr>
          <p:cNvPr id="49" name="Google Shape;49;p4"/>
          <p:cNvSpPr/>
          <p:nvPr/>
        </p:nvSpPr>
        <p:spPr>
          <a:xfrm>
            <a:off x="1371600" y="4023360"/>
            <a:ext cx="470916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2761"/>
              </a:buClr>
              <a:buSzPts val="1200"/>
              <a:buFont typeface="Calibri"/>
              <a:buNone/>
            </a:pPr>
            <a:r>
              <a:rPr b="0" i="0" lang="en-US" sz="1200" u="none" cap="none" strike="noStrike">
                <a:solidFill>
                  <a:srgbClr val="1E2761"/>
                </a:solidFill>
                <a:latin typeface="Calibri"/>
                <a:ea typeface="Calibri"/>
                <a:cs typeface="Calibri"/>
                <a:sym typeface="Calibri"/>
              </a:rPr>
              <a:t>Hours of scrolling, unstructured, often outdated, no way to actually practice.</a:t>
            </a:r>
            <a:endParaRPr b="0" i="0" sz="1200" u="none" cap="none" strike="noStrike">
              <a:solidFill>
                <a:schemeClr val="dk1"/>
              </a:solidFill>
              <a:latin typeface="Calibri"/>
              <a:ea typeface="Calibri"/>
              <a:cs typeface="Calibri"/>
              <a:sym typeface="Calibri"/>
            </a:endParaRPr>
          </a:p>
        </p:txBody>
      </p:sp>
      <p:sp>
        <p:nvSpPr>
          <p:cNvPr id="50" name="Google Shape;50;p4"/>
          <p:cNvSpPr/>
          <p:nvPr/>
        </p:nvSpPr>
        <p:spPr>
          <a:xfrm>
            <a:off x="914400" y="4617720"/>
            <a:ext cx="320040" cy="320040"/>
          </a:xfrm>
          <a:prstGeom prst="ellipse">
            <a:avLst/>
          </a:prstGeom>
          <a:solidFill>
            <a:srgbClr val="F96167"/>
          </a:solidFill>
          <a:ln cap="flat" cmpd="sng" w="12700">
            <a:solidFill>
              <a:srgbClr val="F9616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4"/>
          <p:cNvSpPr/>
          <p:nvPr/>
        </p:nvSpPr>
        <p:spPr>
          <a:xfrm>
            <a:off x="914400" y="4617720"/>
            <a:ext cx="32004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a:t>
            </a:r>
            <a:endParaRPr b="0" i="0" sz="1800" u="none" cap="none" strike="noStrike">
              <a:solidFill>
                <a:schemeClr val="dk1"/>
              </a:solidFill>
              <a:latin typeface="Calibri"/>
              <a:ea typeface="Calibri"/>
              <a:cs typeface="Calibri"/>
              <a:sym typeface="Calibri"/>
            </a:endParaRPr>
          </a:p>
        </p:txBody>
      </p:sp>
      <p:sp>
        <p:nvSpPr>
          <p:cNvPr id="52" name="Google Shape;52;p4"/>
          <p:cNvSpPr/>
          <p:nvPr/>
        </p:nvSpPr>
        <p:spPr>
          <a:xfrm>
            <a:off x="1371600" y="4572000"/>
            <a:ext cx="47091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500"/>
              <a:buFont typeface="Cambria"/>
              <a:buNone/>
            </a:pPr>
            <a:r>
              <a:rPr b="1" i="0" lang="en-US" sz="1500" u="none" cap="none" strike="noStrike">
                <a:solidFill>
                  <a:srgbClr val="1E2761"/>
                </a:solidFill>
                <a:latin typeface="Cambria"/>
                <a:ea typeface="Cambria"/>
                <a:cs typeface="Cambria"/>
                <a:sym typeface="Cambria"/>
              </a:rPr>
              <a:t>Paid interview coaches</a:t>
            </a:r>
            <a:endParaRPr b="0" i="0" sz="1500" u="none" cap="none" strike="noStrike">
              <a:solidFill>
                <a:schemeClr val="dk1"/>
              </a:solidFill>
              <a:latin typeface="Calibri"/>
              <a:ea typeface="Calibri"/>
              <a:cs typeface="Calibri"/>
              <a:sym typeface="Calibri"/>
            </a:endParaRPr>
          </a:p>
        </p:txBody>
      </p:sp>
      <p:sp>
        <p:nvSpPr>
          <p:cNvPr id="53" name="Google Shape;53;p4"/>
          <p:cNvSpPr/>
          <p:nvPr/>
        </p:nvSpPr>
        <p:spPr>
          <a:xfrm>
            <a:off x="1371600" y="4937760"/>
            <a:ext cx="470916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2761"/>
              </a:buClr>
              <a:buSzPts val="1200"/>
              <a:buFont typeface="Calibri"/>
              <a:buNone/>
            </a:pPr>
            <a:r>
              <a:rPr b="0" i="0" lang="en-US" sz="1200" u="none" cap="none" strike="noStrike">
                <a:solidFill>
                  <a:srgbClr val="1E2761"/>
                </a:solidFill>
                <a:latin typeface="Calibri"/>
                <a:ea typeface="Calibri"/>
                <a:cs typeface="Calibri"/>
                <a:sym typeface="Calibri"/>
              </a:rPr>
              <a:t>Effective but $50 to $200 per session. Out of reach for most students and OPT job hunters.</a:t>
            </a:r>
            <a:endParaRPr b="0" i="0" sz="1200" u="none" cap="none" strike="noStrike">
              <a:solidFill>
                <a:schemeClr val="dk1"/>
              </a:solidFill>
              <a:latin typeface="Calibri"/>
              <a:ea typeface="Calibri"/>
              <a:cs typeface="Calibri"/>
              <a:sym typeface="Calibri"/>
            </a:endParaRPr>
          </a:p>
        </p:txBody>
      </p:sp>
      <p:sp>
        <p:nvSpPr>
          <p:cNvPr id="54" name="Google Shape;54;p4"/>
          <p:cNvSpPr/>
          <p:nvPr/>
        </p:nvSpPr>
        <p:spPr>
          <a:xfrm>
            <a:off x="914400" y="5532120"/>
            <a:ext cx="320040" cy="320040"/>
          </a:xfrm>
          <a:prstGeom prst="ellipse">
            <a:avLst/>
          </a:prstGeom>
          <a:solidFill>
            <a:srgbClr val="F96167"/>
          </a:solidFill>
          <a:ln cap="flat" cmpd="sng" w="12700">
            <a:solidFill>
              <a:srgbClr val="F9616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4"/>
          <p:cNvSpPr/>
          <p:nvPr/>
        </p:nvSpPr>
        <p:spPr>
          <a:xfrm>
            <a:off x="914400" y="5532120"/>
            <a:ext cx="32004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a:t>
            </a:r>
            <a:endParaRPr b="0" i="0" sz="1800" u="none" cap="none" strike="noStrike">
              <a:solidFill>
                <a:schemeClr val="dk1"/>
              </a:solidFill>
              <a:latin typeface="Calibri"/>
              <a:ea typeface="Calibri"/>
              <a:cs typeface="Calibri"/>
              <a:sym typeface="Calibri"/>
            </a:endParaRPr>
          </a:p>
        </p:txBody>
      </p:sp>
      <p:sp>
        <p:nvSpPr>
          <p:cNvPr id="56" name="Google Shape;56;p4"/>
          <p:cNvSpPr/>
          <p:nvPr/>
        </p:nvSpPr>
        <p:spPr>
          <a:xfrm>
            <a:off x="1371600" y="5486400"/>
            <a:ext cx="47091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500"/>
              <a:buFont typeface="Cambria"/>
              <a:buNone/>
            </a:pPr>
            <a:r>
              <a:rPr b="1" i="0" lang="en-US" sz="1500" u="none" cap="none" strike="noStrike">
                <a:solidFill>
                  <a:srgbClr val="1E2761"/>
                </a:solidFill>
                <a:latin typeface="Cambria"/>
                <a:ea typeface="Cambria"/>
                <a:cs typeface="Cambria"/>
                <a:sym typeface="Cambria"/>
              </a:rPr>
              <a:t>Solo practice</a:t>
            </a:r>
            <a:endParaRPr b="0" i="0" sz="1500" u="none" cap="none" strike="noStrike">
              <a:solidFill>
                <a:schemeClr val="dk1"/>
              </a:solidFill>
              <a:latin typeface="Calibri"/>
              <a:ea typeface="Calibri"/>
              <a:cs typeface="Calibri"/>
              <a:sym typeface="Calibri"/>
            </a:endParaRPr>
          </a:p>
        </p:txBody>
      </p:sp>
      <p:sp>
        <p:nvSpPr>
          <p:cNvPr id="57" name="Google Shape;57;p4"/>
          <p:cNvSpPr/>
          <p:nvPr/>
        </p:nvSpPr>
        <p:spPr>
          <a:xfrm>
            <a:off x="1371600" y="5852160"/>
            <a:ext cx="470916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2761"/>
              </a:buClr>
              <a:buSzPts val="1200"/>
              <a:buFont typeface="Calibri"/>
              <a:buNone/>
            </a:pPr>
            <a:r>
              <a:rPr b="0" i="0" lang="en-US" sz="1200" u="none" cap="none" strike="noStrike">
                <a:solidFill>
                  <a:srgbClr val="1E2761"/>
                </a:solidFill>
                <a:latin typeface="Calibri"/>
                <a:ea typeface="Calibri"/>
                <a:cs typeface="Calibri"/>
                <a:sym typeface="Calibri"/>
              </a:rPr>
              <a:t>Even when you practice, you answer into the void. No real feedback, no honest read on whether you sound sharp or generic.</a:t>
            </a:r>
            <a:endParaRPr b="0" i="0" sz="1200" u="none" cap="none" strike="noStrike">
              <a:solidFill>
                <a:schemeClr val="dk1"/>
              </a:solidFill>
              <a:latin typeface="Calibri"/>
              <a:ea typeface="Calibri"/>
              <a:cs typeface="Calibri"/>
              <a:sym typeface="Calibri"/>
            </a:endParaRPr>
          </a:p>
        </p:txBody>
      </p:sp>
      <p:sp>
        <p:nvSpPr>
          <p:cNvPr id="58" name="Google Shape;58;p4"/>
          <p:cNvSpPr/>
          <p:nvPr/>
        </p:nvSpPr>
        <p:spPr>
          <a:xfrm>
            <a:off x="6400800" y="1965960"/>
            <a:ext cx="5074920" cy="4480560"/>
          </a:xfrm>
          <a:prstGeom prst="roundRect">
            <a:avLst>
              <a:gd fmla="val 3061" name="adj"/>
            </a:avLst>
          </a:prstGeom>
          <a:solidFill>
            <a:srgbClr val="1E2761"/>
          </a:solidFill>
          <a:ln cap="flat" cmpd="sng" w="12700">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4"/>
          <p:cNvSpPr/>
          <p:nvPr/>
        </p:nvSpPr>
        <p:spPr>
          <a:xfrm>
            <a:off x="6675120" y="2194560"/>
            <a:ext cx="4572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6167"/>
              </a:buClr>
              <a:buSzPts val="1100"/>
              <a:buFont typeface="Calibri"/>
              <a:buNone/>
            </a:pPr>
            <a:r>
              <a:rPr b="1" i="0" lang="en-US" sz="1100" u="none" cap="none" strike="noStrike">
                <a:solidFill>
                  <a:srgbClr val="F96167"/>
                </a:solidFill>
                <a:latin typeface="Calibri"/>
                <a:ea typeface="Calibri"/>
                <a:cs typeface="Calibri"/>
                <a:sym typeface="Calibri"/>
              </a:rPr>
              <a:t>THE GAP</a:t>
            </a:r>
            <a:endParaRPr b="0" i="0" sz="1100" u="none" cap="none" strike="noStrike">
              <a:solidFill>
                <a:schemeClr val="dk1"/>
              </a:solidFill>
              <a:latin typeface="Calibri"/>
              <a:ea typeface="Calibri"/>
              <a:cs typeface="Calibri"/>
              <a:sym typeface="Calibri"/>
            </a:endParaRPr>
          </a:p>
        </p:txBody>
      </p:sp>
      <p:sp>
        <p:nvSpPr>
          <p:cNvPr id="60" name="Google Shape;60;p4"/>
          <p:cNvSpPr/>
          <p:nvPr/>
        </p:nvSpPr>
        <p:spPr>
          <a:xfrm>
            <a:off x="6675120" y="2606040"/>
            <a:ext cx="457200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2200"/>
              <a:buFont typeface="Cambria"/>
              <a:buNone/>
            </a:pPr>
            <a:r>
              <a:rPr b="1" i="0" lang="en-US" sz="2200" u="none" cap="none" strike="noStrike">
                <a:solidFill>
                  <a:srgbClr val="FFFFFF"/>
                </a:solidFill>
                <a:latin typeface="Cambria"/>
                <a:ea typeface="Cambria"/>
                <a:cs typeface="Cambria"/>
                <a:sym typeface="Cambria"/>
              </a:rPr>
              <a:t>Candidates need role-specific practice questions</a:t>
            </a:r>
            <a:endParaRPr b="0" i="0" sz="2200" u="none" cap="none" strike="noStrike">
              <a:solidFill>
                <a:schemeClr val="dk1"/>
              </a:solidFill>
              <a:latin typeface="Calibri"/>
              <a:ea typeface="Calibri"/>
              <a:cs typeface="Calibri"/>
              <a:sym typeface="Calibri"/>
            </a:endParaRPr>
          </a:p>
        </p:txBody>
      </p:sp>
      <p:sp>
        <p:nvSpPr>
          <p:cNvPr id="61" name="Google Shape;61;p4"/>
          <p:cNvSpPr/>
          <p:nvPr/>
        </p:nvSpPr>
        <p:spPr>
          <a:xfrm>
            <a:off x="6675120" y="3429000"/>
            <a:ext cx="457200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96167"/>
              </a:buClr>
              <a:buSzPts val="2200"/>
              <a:buFont typeface="Cambria"/>
              <a:buNone/>
            </a:pPr>
            <a:r>
              <a:rPr b="1" i="1" lang="en-US" sz="2200" u="none" cap="none" strike="noStrike">
                <a:solidFill>
                  <a:srgbClr val="F96167"/>
                </a:solidFill>
                <a:latin typeface="Cambria"/>
                <a:ea typeface="Cambria"/>
                <a:cs typeface="Cambria"/>
                <a:sym typeface="Cambria"/>
              </a:rPr>
              <a:t>AND honest feedback on their answers.</a:t>
            </a:r>
            <a:endParaRPr b="0" i="0" sz="2200" u="none" cap="none" strike="noStrike">
              <a:solidFill>
                <a:schemeClr val="dk1"/>
              </a:solidFill>
              <a:latin typeface="Calibri"/>
              <a:ea typeface="Calibri"/>
              <a:cs typeface="Calibri"/>
              <a:sym typeface="Calibri"/>
            </a:endParaRPr>
          </a:p>
        </p:txBody>
      </p:sp>
      <p:cxnSp>
        <p:nvCxnSpPr>
          <p:cNvPr id="62" name="Google Shape;62;p4"/>
          <p:cNvCxnSpPr/>
          <p:nvPr/>
        </p:nvCxnSpPr>
        <p:spPr>
          <a:xfrm>
            <a:off x="6675120" y="4251960"/>
            <a:ext cx="4389120" cy="0"/>
          </a:xfrm>
          <a:prstGeom prst="straightConnector1">
            <a:avLst/>
          </a:prstGeom>
          <a:noFill/>
          <a:ln cap="flat" cmpd="sng" w="12700">
            <a:solidFill>
              <a:srgbClr val="CADCFC"/>
            </a:solidFill>
            <a:prstDash val="solid"/>
            <a:round/>
            <a:headEnd len="sm" w="sm" type="none"/>
            <a:tailEnd len="sm" w="sm" type="none"/>
          </a:ln>
        </p:spPr>
      </p:cxnSp>
      <p:sp>
        <p:nvSpPr>
          <p:cNvPr id="63" name="Google Shape;63;p4"/>
          <p:cNvSpPr/>
          <p:nvPr/>
        </p:nvSpPr>
        <p:spPr>
          <a:xfrm>
            <a:off x="6675120" y="4434840"/>
            <a:ext cx="45720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700"/>
              <a:buFont typeface="Calibri"/>
              <a:buNone/>
            </a:pPr>
            <a:r>
              <a:rPr b="0" i="1" lang="en-US" sz="1700" u="none" cap="none" strike="noStrike">
                <a:solidFill>
                  <a:srgbClr val="CADCFC"/>
                </a:solidFill>
                <a:latin typeface="Calibri"/>
                <a:ea typeface="Calibri"/>
                <a:cs typeface="Calibri"/>
                <a:sym typeface="Calibri"/>
              </a:rPr>
              <a:t>Both accessible instantly.</a:t>
            </a:r>
            <a:endParaRPr b="0" i="0" sz="1700" u="none" cap="none" strike="noStrike">
              <a:solidFill>
                <a:schemeClr val="dk1"/>
              </a:solidFill>
              <a:latin typeface="Calibri"/>
              <a:ea typeface="Calibri"/>
              <a:cs typeface="Calibri"/>
              <a:sym typeface="Calibri"/>
            </a:endParaRPr>
          </a:p>
        </p:txBody>
      </p:sp>
      <p:sp>
        <p:nvSpPr>
          <p:cNvPr id="64" name="Google Shape;64;p4"/>
          <p:cNvSpPr/>
          <p:nvPr/>
        </p:nvSpPr>
        <p:spPr>
          <a:xfrm>
            <a:off x="6675120" y="4892040"/>
            <a:ext cx="45720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700"/>
              <a:buFont typeface="Calibri"/>
              <a:buNone/>
            </a:pPr>
            <a:r>
              <a:rPr b="0" i="1" lang="en-US" sz="1700" u="none" cap="none" strike="noStrike">
                <a:solidFill>
                  <a:srgbClr val="CADCFC"/>
                </a:solidFill>
                <a:latin typeface="Calibri"/>
                <a:ea typeface="Calibri"/>
                <a:cs typeface="Calibri"/>
                <a:sym typeface="Calibri"/>
              </a:rPr>
              <a:t>Both available for free.</a:t>
            </a:r>
            <a:endParaRPr b="0" i="0" sz="1700" u="none" cap="none" strike="noStrike">
              <a:solidFill>
                <a:schemeClr val="dk1"/>
              </a:solidFill>
              <a:latin typeface="Calibri"/>
              <a:ea typeface="Calibri"/>
              <a:cs typeface="Calibri"/>
              <a:sym typeface="Calibri"/>
            </a:endParaRPr>
          </a:p>
        </p:txBody>
      </p:sp>
      <p:sp>
        <p:nvSpPr>
          <p:cNvPr id="65" name="Google Shape;65;p4"/>
          <p:cNvSpPr/>
          <p:nvPr/>
        </p:nvSpPr>
        <p:spPr>
          <a:xfrm>
            <a:off x="6675120" y="5623560"/>
            <a:ext cx="45720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800"/>
              <a:buFont typeface="Cambria"/>
              <a:buNone/>
            </a:pPr>
            <a:r>
              <a:rPr b="1" i="1" lang="en-US" sz="1800" u="none" cap="none" strike="noStrike">
                <a:solidFill>
                  <a:srgbClr val="FFFFFF"/>
                </a:solidFill>
                <a:latin typeface="Cambria"/>
                <a:ea typeface="Cambria"/>
                <a:cs typeface="Cambria"/>
                <a:sym typeface="Cambria"/>
              </a:rPr>
              <a:t>That's the gap we wanted to close.</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3F"/>
        </a:solidFill>
      </p:bgPr>
    </p:bg>
    <p:spTree>
      <p:nvGrpSpPr>
        <p:cNvPr id="70" name="Shape 70"/>
        <p:cNvGrpSpPr/>
        <p:nvPr/>
      </p:nvGrpSpPr>
      <p:grpSpPr>
        <a:xfrm>
          <a:off x="0" y="0"/>
          <a:ext cx="0" cy="0"/>
          <a:chOff x="0" y="0"/>
          <a:chExt cx="0" cy="0"/>
        </a:xfrm>
      </p:grpSpPr>
      <p:sp>
        <p:nvSpPr>
          <p:cNvPr id="71" name="Google Shape;71;p5"/>
          <p:cNvSpPr/>
          <p:nvPr/>
        </p:nvSpPr>
        <p:spPr>
          <a:xfrm>
            <a:off x="685800" y="457200"/>
            <a:ext cx="2377440" cy="329184"/>
          </a:xfrm>
          <a:prstGeom prst="roundRect">
            <a:avLst>
              <a:gd fmla="val 50000" name="adj"/>
            </a:avLst>
          </a:prstGeom>
          <a:solidFill>
            <a:srgbClr val="F96167"/>
          </a:solidFill>
          <a:ln cap="flat" cmpd="sng" w="12700">
            <a:solidFill>
              <a:srgbClr val="F9616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5"/>
          <p:cNvSpPr/>
          <p:nvPr/>
        </p:nvSpPr>
        <p:spPr>
          <a:xfrm>
            <a:off x="685800" y="457200"/>
            <a:ext cx="2377440"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THE SOLUTION</a:t>
            </a:r>
            <a:endParaRPr b="0" i="0" sz="1100" u="none" cap="none" strike="noStrike">
              <a:solidFill>
                <a:schemeClr val="dk1"/>
              </a:solidFill>
              <a:latin typeface="Calibri"/>
              <a:ea typeface="Calibri"/>
              <a:cs typeface="Calibri"/>
              <a:sym typeface="Calibri"/>
            </a:endParaRPr>
          </a:p>
        </p:txBody>
      </p:sp>
      <p:sp>
        <p:nvSpPr>
          <p:cNvPr id="73" name="Google Shape;73;p5"/>
          <p:cNvSpPr/>
          <p:nvPr/>
        </p:nvSpPr>
        <p:spPr>
          <a:xfrm>
            <a:off x="685800" y="960120"/>
            <a:ext cx="1097280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000"/>
              <a:buFont typeface="Cambria"/>
              <a:buNone/>
            </a:pPr>
            <a:r>
              <a:rPr b="1" i="0" lang="en-US" sz="4000" u="none" cap="none" strike="noStrike">
                <a:solidFill>
                  <a:srgbClr val="FFFFFF"/>
                </a:solidFill>
                <a:latin typeface="Cambria"/>
                <a:ea typeface="Cambria"/>
                <a:cs typeface="Cambria"/>
                <a:sym typeface="Cambria"/>
              </a:rPr>
              <a:t>Interview Prep Coach</a:t>
            </a:r>
            <a:endParaRPr b="0" i="0" sz="4000" u="none" cap="none" strike="noStrike">
              <a:solidFill>
                <a:schemeClr val="dk1"/>
              </a:solidFill>
              <a:latin typeface="Calibri"/>
              <a:ea typeface="Calibri"/>
              <a:cs typeface="Calibri"/>
              <a:sym typeface="Calibri"/>
            </a:endParaRPr>
          </a:p>
        </p:txBody>
      </p:sp>
      <p:sp>
        <p:nvSpPr>
          <p:cNvPr id="74" name="Google Shape;74;p5"/>
          <p:cNvSpPr/>
          <p:nvPr/>
        </p:nvSpPr>
        <p:spPr>
          <a:xfrm>
            <a:off x="685800" y="1737360"/>
            <a:ext cx="109728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800"/>
              <a:buFont typeface="Calibri"/>
              <a:buNone/>
            </a:pPr>
            <a:r>
              <a:rPr b="0" i="1" lang="en-US" sz="1800" u="none" cap="none" strike="noStrike">
                <a:solidFill>
                  <a:srgbClr val="CADCFC"/>
                </a:solidFill>
                <a:latin typeface="Calibri"/>
                <a:ea typeface="Calibri"/>
                <a:cs typeface="Calibri"/>
                <a:sym typeface="Calibri"/>
              </a:rPr>
              <a:t>A chatbot that does two things.</a:t>
            </a:r>
            <a:endParaRPr b="0" i="0" sz="1800" u="none" cap="none" strike="noStrike">
              <a:solidFill>
                <a:schemeClr val="dk1"/>
              </a:solidFill>
              <a:latin typeface="Calibri"/>
              <a:ea typeface="Calibri"/>
              <a:cs typeface="Calibri"/>
              <a:sym typeface="Calibri"/>
            </a:endParaRPr>
          </a:p>
        </p:txBody>
      </p:sp>
      <p:sp>
        <p:nvSpPr>
          <p:cNvPr id="75" name="Google Shape;75;p5"/>
          <p:cNvSpPr/>
          <p:nvPr/>
        </p:nvSpPr>
        <p:spPr>
          <a:xfrm>
            <a:off x="685800" y="2560320"/>
            <a:ext cx="5394960" cy="3383280"/>
          </a:xfrm>
          <a:prstGeom prst="roundRect">
            <a:avLst>
              <a:gd fmla="val 4054" name="adj"/>
            </a:avLst>
          </a:prstGeom>
          <a:solidFill>
            <a:srgbClr val="1E2761"/>
          </a:solidFill>
          <a:ln cap="flat" cmpd="sng" w="12700">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5"/>
          <p:cNvSpPr/>
          <p:nvPr/>
        </p:nvSpPr>
        <p:spPr>
          <a:xfrm>
            <a:off x="960120" y="2880360"/>
            <a:ext cx="777240" cy="777240"/>
          </a:xfrm>
          <a:prstGeom prst="ellipse">
            <a:avLst/>
          </a:prstGeom>
          <a:solidFill>
            <a:srgbClr val="F96167"/>
          </a:solidFill>
          <a:ln cap="flat" cmpd="sng" w="12700">
            <a:solidFill>
              <a:srgbClr val="F9616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5"/>
          <p:cNvSpPr/>
          <p:nvPr/>
        </p:nvSpPr>
        <p:spPr>
          <a:xfrm>
            <a:off x="960120" y="2880360"/>
            <a:ext cx="777240" cy="7772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3400"/>
              <a:buFont typeface="Cambria"/>
              <a:buNone/>
            </a:pPr>
            <a:r>
              <a:rPr b="1" i="0" lang="en-US" sz="3400" u="none" cap="none" strike="noStrike">
                <a:solidFill>
                  <a:srgbClr val="FFFFFF"/>
                </a:solidFill>
                <a:latin typeface="Cambria"/>
                <a:ea typeface="Cambria"/>
                <a:cs typeface="Cambria"/>
                <a:sym typeface="Cambria"/>
              </a:rPr>
              <a:t>1</a:t>
            </a:r>
            <a:endParaRPr b="0" i="0" sz="3400" u="none" cap="none" strike="noStrike">
              <a:solidFill>
                <a:schemeClr val="dk1"/>
              </a:solidFill>
              <a:latin typeface="Calibri"/>
              <a:ea typeface="Calibri"/>
              <a:cs typeface="Calibri"/>
              <a:sym typeface="Calibri"/>
            </a:endParaRPr>
          </a:p>
        </p:txBody>
      </p:sp>
      <p:sp>
        <p:nvSpPr>
          <p:cNvPr id="78" name="Google Shape;78;p5"/>
          <p:cNvSpPr/>
          <p:nvPr/>
        </p:nvSpPr>
        <p:spPr>
          <a:xfrm>
            <a:off x="1965960" y="2944368"/>
            <a:ext cx="329184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900"/>
              <a:buFont typeface="Cambria"/>
              <a:buNone/>
            </a:pPr>
            <a:r>
              <a:rPr b="1" i="0" lang="en-US" sz="1900" u="none" cap="none" strike="noStrike">
                <a:solidFill>
                  <a:srgbClr val="FFFFFF"/>
                </a:solidFill>
                <a:latin typeface="Cambria"/>
                <a:ea typeface="Cambria"/>
                <a:cs typeface="Cambria"/>
                <a:sym typeface="Cambria"/>
              </a:rPr>
              <a:t>Generates 5 role-specific questions</a:t>
            </a:r>
            <a:endParaRPr b="0" i="0" sz="1900" u="none" cap="none" strike="noStrike">
              <a:solidFill>
                <a:schemeClr val="dk1"/>
              </a:solidFill>
              <a:latin typeface="Calibri"/>
              <a:ea typeface="Calibri"/>
              <a:cs typeface="Calibri"/>
              <a:sym typeface="Calibri"/>
            </a:endParaRPr>
          </a:p>
        </p:txBody>
      </p:sp>
      <p:sp>
        <p:nvSpPr>
          <p:cNvPr id="79" name="Google Shape;79;p5"/>
          <p:cNvSpPr/>
          <p:nvPr/>
        </p:nvSpPr>
        <p:spPr>
          <a:xfrm>
            <a:off x="960120" y="3840480"/>
            <a:ext cx="51206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300"/>
              <a:buFont typeface="Calibri"/>
              <a:buNone/>
            </a:pPr>
            <a:r>
              <a:rPr b="0" i="1" lang="en-US" sz="1300" u="none" cap="none" strike="noStrike">
                <a:solidFill>
                  <a:srgbClr val="CADCFC"/>
                </a:solidFill>
                <a:latin typeface="Calibri"/>
                <a:ea typeface="Calibri"/>
                <a:cs typeface="Calibri"/>
                <a:sym typeface="Calibri"/>
              </a:rPr>
              <a:t>Tell it your role, company type, and experience level.</a:t>
            </a:r>
            <a:endParaRPr b="0" i="0" sz="1300" u="none" cap="none" strike="noStrike">
              <a:solidFill>
                <a:schemeClr val="dk1"/>
              </a:solidFill>
              <a:latin typeface="Calibri"/>
              <a:ea typeface="Calibri"/>
              <a:cs typeface="Calibri"/>
              <a:sym typeface="Calibri"/>
            </a:endParaRPr>
          </a:p>
        </p:txBody>
      </p:sp>
      <p:sp>
        <p:nvSpPr>
          <p:cNvPr id="80" name="Google Shape;80;p5"/>
          <p:cNvSpPr/>
          <p:nvPr/>
        </p:nvSpPr>
        <p:spPr>
          <a:xfrm>
            <a:off x="1051560" y="4389120"/>
            <a:ext cx="128016" cy="128016"/>
          </a:xfrm>
          <a:prstGeom prst="ellipse">
            <a:avLst/>
          </a:prstGeom>
          <a:solidFill>
            <a:srgbClr val="F96167"/>
          </a:solidFill>
          <a:ln cap="flat" cmpd="sng" w="12700">
            <a:solidFill>
              <a:srgbClr val="F9616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5"/>
          <p:cNvSpPr/>
          <p:nvPr/>
        </p:nvSpPr>
        <p:spPr>
          <a:xfrm>
            <a:off x="1280160" y="4325112"/>
            <a:ext cx="48463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1 warm-up</a:t>
            </a:r>
            <a:endParaRPr b="0" i="0" sz="1400" u="none" cap="none" strike="noStrike">
              <a:solidFill>
                <a:schemeClr val="dk1"/>
              </a:solidFill>
              <a:latin typeface="Calibri"/>
              <a:ea typeface="Calibri"/>
              <a:cs typeface="Calibri"/>
              <a:sym typeface="Calibri"/>
            </a:endParaRPr>
          </a:p>
        </p:txBody>
      </p:sp>
      <p:sp>
        <p:nvSpPr>
          <p:cNvPr id="82" name="Google Shape;82;p5"/>
          <p:cNvSpPr/>
          <p:nvPr/>
        </p:nvSpPr>
        <p:spPr>
          <a:xfrm>
            <a:off x="1051560" y="4681728"/>
            <a:ext cx="128016" cy="128016"/>
          </a:xfrm>
          <a:prstGeom prst="ellipse">
            <a:avLst/>
          </a:prstGeom>
          <a:solidFill>
            <a:srgbClr val="F96167"/>
          </a:solidFill>
          <a:ln cap="flat" cmpd="sng" w="12700">
            <a:solidFill>
              <a:srgbClr val="F9616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5"/>
          <p:cNvSpPr/>
          <p:nvPr/>
        </p:nvSpPr>
        <p:spPr>
          <a:xfrm>
            <a:off x="1280160" y="4617720"/>
            <a:ext cx="48463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2 technical</a:t>
            </a:r>
            <a:endParaRPr b="0" i="0" sz="1400" u="none" cap="none" strike="noStrike">
              <a:solidFill>
                <a:schemeClr val="dk1"/>
              </a:solidFill>
              <a:latin typeface="Calibri"/>
              <a:ea typeface="Calibri"/>
              <a:cs typeface="Calibri"/>
              <a:sym typeface="Calibri"/>
            </a:endParaRPr>
          </a:p>
        </p:txBody>
      </p:sp>
      <p:sp>
        <p:nvSpPr>
          <p:cNvPr id="84" name="Google Shape;84;p5"/>
          <p:cNvSpPr/>
          <p:nvPr/>
        </p:nvSpPr>
        <p:spPr>
          <a:xfrm>
            <a:off x="1051560" y="4974336"/>
            <a:ext cx="128016" cy="128016"/>
          </a:xfrm>
          <a:prstGeom prst="ellipse">
            <a:avLst/>
          </a:prstGeom>
          <a:solidFill>
            <a:srgbClr val="F96167"/>
          </a:solidFill>
          <a:ln cap="flat" cmpd="sng" w="12700">
            <a:solidFill>
              <a:srgbClr val="F9616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5"/>
          <p:cNvSpPr/>
          <p:nvPr/>
        </p:nvSpPr>
        <p:spPr>
          <a:xfrm>
            <a:off x="1280160" y="4910328"/>
            <a:ext cx="48463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1 behavioral</a:t>
            </a:r>
            <a:endParaRPr b="0" i="0" sz="1400" u="none" cap="none" strike="noStrike">
              <a:solidFill>
                <a:schemeClr val="dk1"/>
              </a:solidFill>
              <a:latin typeface="Calibri"/>
              <a:ea typeface="Calibri"/>
              <a:cs typeface="Calibri"/>
              <a:sym typeface="Calibri"/>
            </a:endParaRPr>
          </a:p>
        </p:txBody>
      </p:sp>
      <p:sp>
        <p:nvSpPr>
          <p:cNvPr id="86" name="Google Shape;86;p5"/>
          <p:cNvSpPr/>
          <p:nvPr/>
        </p:nvSpPr>
        <p:spPr>
          <a:xfrm>
            <a:off x="1051560" y="5266944"/>
            <a:ext cx="128016" cy="128016"/>
          </a:xfrm>
          <a:prstGeom prst="ellipse">
            <a:avLst/>
          </a:prstGeom>
          <a:solidFill>
            <a:srgbClr val="F96167"/>
          </a:solidFill>
          <a:ln cap="flat" cmpd="sng" w="12700">
            <a:solidFill>
              <a:srgbClr val="F9616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5"/>
          <p:cNvSpPr/>
          <p:nvPr/>
        </p:nvSpPr>
        <p:spPr>
          <a:xfrm>
            <a:off x="1280160" y="5202936"/>
            <a:ext cx="48463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1 curveball</a:t>
            </a:r>
            <a:endParaRPr b="0" i="0" sz="1400" u="none" cap="none" strike="noStrike">
              <a:solidFill>
                <a:schemeClr val="dk1"/>
              </a:solidFill>
              <a:latin typeface="Calibri"/>
              <a:ea typeface="Calibri"/>
              <a:cs typeface="Calibri"/>
              <a:sym typeface="Calibri"/>
            </a:endParaRPr>
          </a:p>
        </p:txBody>
      </p:sp>
      <p:sp>
        <p:nvSpPr>
          <p:cNvPr id="88" name="Google Shape;88;p5"/>
          <p:cNvSpPr/>
          <p:nvPr/>
        </p:nvSpPr>
        <p:spPr>
          <a:xfrm>
            <a:off x="960120" y="5623560"/>
            <a:ext cx="51206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6167"/>
              </a:buClr>
              <a:buSzPts val="1200"/>
              <a:buFont typeface="Calibri"/>
              <a:buNone/>
            </a:pPr>
            <a:r>
              <a:rPr b="0" i="1" lang="en-US" sz="1200" u="none" cap="none" strike="noStrike">
                <a:solidFill>
                  <a:srgbClr val="F96167"/>
                </a:solidFill>
                <a:latin typeface="Calibri"/>
                <a:ea typeface="Calibri"/>
                <a:cs typeface="Calibri"/>
                <a:sym typeface="Calibri"/>
              </a:rPr>
              <a:t>Each with a one-line hint on what interviewers actually look for.</a:t>
            </a:r>
            <a:endParaRPr b="0" i="0" sz="1200" u="none" cap="none" strike="noStrike">
              <a:solidFill>
                <a:schemeClr val="dk1"/>
              </a:solidFill>
              <a:latin typeface="Calibri"/>
              <a:ea typeface="Calibri"/>
              <a:cs typeface="Calibri"/>
              <a:sym typeface="Calibri"/>
            </a:endParaRPr>
          </a:p>
        </p:txBody>
      </p:sp>
      <p:sp>
        <p:nvSpPr>
          <p:cNvPr id="89" name="Google Shape;89;p5"/>
          <p:cNvSpPr/>
          <p:nvPr/>
        </p:nvSpPr>
        <p:spPr>
          <a:xfrm>
            <a:off x="6400800" y="2560320"/>
            <a:ext cx="5394960" cy="3383280"/>
          </a:xfrm>
          <a:prstGeom prst="roundRect">
            <a:avLst>
              <a:gd fmla="val 4054" name="adj"/>
            </a:avLst>
          </a:prstGeom>
          <a:solidFill>
            <a:srgbClr val="1E2761"/>
          </a:solidFill>
          <a:ln cap="flat" cmpd="sng" w="12700">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5"/>
          <p:cNvSpPr/>
          <p:nvPr/>
        </p:nvSpPr>
        <p:spPr>
          <a:xfrm>
            <a:off x="6675120" y="2880360"/>
            <a:ext cx="777240" cy="777240"/>
          </a:xfrm>
          <a:prstGeom prst="ellipse">
            <a:avLst/>
          </a:prstGeom>
          <a:solidFill>
            <a:srgbClr val="F96167"/>
          </a:solidFill>
          <a:ln cap="flat" cmpd="sng" w="12700">
            <a:solidFill>
              <a:srgbClr val="F9616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5"/>
          <p:cNvSpPr/>
          <p:nvPr/>
        </p:nvSpPr>
        <p:spPr>
          <a:xfrm>
            <a:off x="6675120" y="2880360"/>
            <a:ext cx="777240" cy="7772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3400"/>
              <a:buFont typeface="Cambria"/>
              <a:buNone/>
            </a:pPr>
            <a:r>
              <a:rPr b="1" i="0" lang="en-US" sz="3400" u="none" cap="none" strike="noStrike">
                <a:solidFill>
                  <a:srgbClr val="FFFFFF"/>
                </a:solidFill>
                <a:latin typeface="Cambria"/>
                <a:ea typeface="Cambria"/>
                <a:cs typeface="Cambria"/>
                <a:sym typeface="Cambria"/>
              </a:rPr>
              <a:t>2</a:t>
            </a:r>
            <a:endParaRPr b="0" i="0" sz="3400" u="none" cap="none" strike="noStrike">
              <a:solidFill>
                <a:schemeClr val="dk1"/>
              </a:solidFill>
              <a:latin typeface="Calibri"/>
              <a:ea typeface="Calibri"/>
              <a:cs typeface="Calibri"/>
              <a:sym typeface="Calibri"/>
            </a:endParaRPr>
          </a:p>
        </p:txBody>
      </p:sp>
      <p:sp>
        <p:nvSpPr>
          <p:cNvPr id="92" name="Google Shape;92;p5"/>
          <p:cNvSpPr/>
          <p:nvPr/>
        </p:nvSpPr>
        <p:spPr>
          <a:xfrm>
            <a:off x="7680960" y="2944368"/>
            <a:ext cx="393192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900"/>
              <a:buFont typeface="Cambria"/>
              <a:buNone/>
            </a:pPr>
            <a:r>
              <a:rPr b="1" i="0" lang="en-US" sz="1900" u="none" cap="none" strike="noStrike">
                <a:solidFill>
                  <a:srgbClr val="FFFFFF"/>
                </a:solidFill>
                <a:latin typeface="Cambria"/>
                <a:ea typeface="Cambria"/>
                <a:cs typeface="Cambria"/>
                <a:sym typeface="Cambria"/>
              </a:rPr>
              <a:t>Evaluates your answer in 4 parts</a:t>
            </a:r>
            <a:endParaRPr b="0" i="0" sz="1900" u="none" cap="none" strike="noStrike">
              <a:solidFill>
                <a:schemeClr val="dk1"/>
              </a:solidFill>
              <a:latin typeface="Calibri"/>
              <a:ea typeface="Calibri"/>
              <a:cs typeface="Calibri"/>
              <a:sym typeface="Calibri"/>
            </a:endParaRPr>
          </a:p>
        </p:txBody>
      </p:sp>
      <p:sp>
        <p:nvSpPr>
          <p:cNvPr id="93" name="Google Shape;93;p5"/>
          <p:cNvSpPr/>
          <p:nvPr/>
        </p:nvSpPr>
        <p:spPr>
          <a:xfrm>
            <a:off x="6675120" y="3840480"/>
            <a:ext cx="51206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300"/>
              <a:buFont typeface="Calibri"/>
              <a:buNone/>
            </a:pPr>
            <a:r>
              <a:rPr b="0" i="1" lang="en-US" sz="1300" u="none" cap="none" strike="noStrike">
                <a:solidFill>
                  <a:srgbClr val="CADCFC"/>
                </a:solidFill>
                <a:latin typeface="Calibri"/>
                <a:ea typeface="Calibri"/>
                <a:cs typeface="Calibri"/>
                <a:sym typeface="Calibri"/>
              </a:rPr>
              <a:t>Answer any question. Get structured feedback.</a:t>
            </a:r>
            <a:endParaRPr b="0" i="0" sz="1300" u="none" cap="none" strike="noStrike">
              <a:solidFill>
                <a:schemeClr val="dk1"/>
              </a:solidFill>
              <a:latin typeface="Calibri"/>
              <a:ea typeface="Calibri"/>
              <a:cs typeface="Calibri"/>
              <a:sym typeface="Calibri"/>
            </a:endParaRPr>
          </a:p>
        </p:txBody>
      </p:sp>
      <p:sp>
        <p:nvSpPr>
          <p:cNvPr id="94" name="Google Shape;94;p5"/>
          <p:cNvSpPr/>
          <p:nvPr/>
        </p:nvSpPr>
        <p:spPr>
          <a:xfrm>
            <a:off x="6766560" y="4389120"/>
            <a:ext cx="128016" cy="128016"/>
          </a:xfrm>
          <a:prstGeom prst="ellipse">
            <a:avLst/>
          </a:prstGeom>
          <a:solidFill>
            <a:srgbClr val="F96167"/>
          </a:solidFill>
          <a:ln cap="flat" cmpd="sng" w="12700">
            <a:solidFill>
              <a:srgbClr val="F9616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5"/>
          <p:cNvSpPr/>
          <p:nvPr/>
        </p:nvSpPr>
        <p:spPr>
          <a:xfrm>
            <a:off x="6995160" y="4325112"/>
            <a:ext cx="4617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What worked</a:t>
            </a:r>
            <a:endParaRPr b="0" i="0" sz="1400" u="none" cap="none" strike="noStrike">
              <a:solidFill>
                <a:schemeClr val="dk1"/>
              </a:solidFill>
              <a:latin typeface="Calibri"/>
              <a:ea typeface="Calibri"/>
              <a:cs typeface="Calibri"/>
              <a:sym typeface="Calibri"/>
            </a:endParaRPr>
          </a:p>
        </p:txBody>
      </p:sp>
      <p:sp>
        <p:nvSpPr>
          <p:cNvPr id="96" name="Google Shape;96;p5"/>
          <p:cNvSpPr/>
          <p:nvPr/>
        </p:nvSpPr>
        <p:spPr>
          <a:xfrm>
            <a:off x="6766560" y="4681728"/>
            <a:ext cx="128016" cy="128016"/>
          </a:xfrm>
          <a:prstGeom prst="ellipse">
            <a:avLst/>
          </a:prstGeom>
          <a:solidFill>
            <a:srgbClr val="F96167"/>
          </a:solidFill>
          <a:ln cap="flat" cmpd="sng" w="12700">
            <a:solidFill>
              <a:srgbClr val="F9616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5"/>
          <p:cNvSpPr/>
          <p:nvPr/>
        </p:nvSpPr>
        <p:spPr>
          <a:xfrm>
            <a:off x="6995160" y="4617720"/>
            <a:ext cx="4617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What's missing</a:t>
            </a:r>
            <a:endParaRPr b="0" i="0" sz="1400" u="none" cap="none" strike="noStrike">
              <a:solidFill>
                <a:schemeClr val="dk1"/>
              </a:solidFill>
              <a:latin typeface="Calibri"/>
              <a:ea typeface="Calibri"/>
              <a:cs typeface="Calibri"/>
              <a:sym typeface="Calibri"/>
            </a:endParaRPr>
          </a:p>
        </p:txBody>
      </p:sp>
      <p:sp>
        <p:nvSpPr>
          <p:cNvPr id="98" name="Google Shape;98;p5"/>
          <p:cNvSpPr/>
          <p:nvPr/>
        </p:nvSpPr>
        <p:spPr>
          <a:xfrm>
            <a:off x="6766560" y="4974336"/>
            <a:ext cx="128016" cy="128016"/>
          </a:xfrm>
          <a:prstGeom prst="ellipse">
            <a:avLst/>
          </a:prstGeom>
          <a:solidFill>
            <a:srgbClr val="F96167"/>
          </a:solidFill>
          <a:ln cap="flat" cmpd="sng" w="12700">
            <a:solidFill>
              <a:srgbClr val="F9616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5"/>
          <p:cNvSpPr/>
          <p:nvPr/>
        </p:nvSpPr>
        <p:spPr>
          <a:xfrm>
            <a:off x="6995160" y="4910328"/>
            <a:ext cx="4617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What to add</a:t>
            </a:r>
            <a:endParaRPr b="0" i="0" sz="1400" u="none" cap="none" strike="noStrike">
              <a:solidFill>
                <a:schemeClr val="dk1"/>
              </a:solidFill>
              <a:latin typeface="Calibri"/>
              <a:ea typeface="Calibri"/>
              <a:cs typeface="Calibri"/>
              <a:sym typeface="Calibri"/>
            </a:endParaRPr>
          </a:p>
        </p:txBody>
      </p:sp>
      <p:sp>
        <p:nvSpPr>
          <p:cNvPr id="100" name="Google Shape;100;p5"/>
          <p:cNvSpPr/>
          <p:nvPr/>
        </p:nvSpPr>
        <p:spPr>
          <a:xfrm>
            <a:off x="6766560" y="5266944"/>
            <a:ext cx="128016" cy="128016"/>
          </a:xfrm>
          <a:prstGeom prst="ellipse">
            <a:avLst/>
          </a:prstGeom>
          <a:solidFill>
            <a:srgbClr val="F96167"/>
          </a:solidFill>
          <a:ln cap="flat" cmpd="sng" w="12700">
            <a:solidFill>
              <a:srgbClr val="F9616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5"/>
          <p:cNvSpPr/>
          <p:nvPr/>
        </p:nvSpPr>
        <p:spPr>
          <a:xfrm>
            <a:off x="6995160" y="5202936"/>
            <a:ext cx="4617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A stronger version for reference</a:t>
            </a:r>
            <a:endParaRPr b="0" i="0" sz="1400" u="none" cap="none" strike="noStrike">
              <a:solidFill>
                <a:schemeClr val="dk1"/>
              </a:solidFill>
              <a:latin typeface="Calibri"/>
              <a:ea typeface="Calibri"/>
              <a:cs typeface="Calibri"/>
              <a:sym typeface="Calibri"/>
            </a:endParaRPr>
          </a:p>
        </p:txBody>
      </p:sp>
      <p:sp>
        <p:nvSpPr>
          <p:cNvPr id="102" name="Google Shape;102;p5"/>
          <p:cNvSpPr/>
          <p:nvPr/>
        </p:nvSpPr>
        <p:spPr>
          <a:xfrm>
            <a:off x="6675120" y="5623560"/>
            <a:ext cx="51206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6167"/>
              </a:buClr>
              <a:buSzPts val="1200"/>
              <a:buFont typeface="Calibri"/>
              <a:buNone/>
            </a:pPr>
            <a:r>
              <a:rPr b="0" i="1" lang="en-US" sz="1200" u="none" cap="none" strike="noStrike">
                <a:solidFill>
                  <a:srgbClr val="F96167"/>
                </a:solidFill>
                <a:latin typeface="Calibri"/>
                <a:ea typeface="Calibri"/>
                <a:cs typeface="Calibri"/>
                <a:sym typeface="Calibri"/>
              </a:rPr>
              <a:t>It coaches the thinking, not the words. Memorized answers sound fake.</a:t>
            </a:r>
            <a:endParaRPr b="0" i="0" sz="1200" u="none" cap="none" strike="noStrike">
              <a:solidFill>
                <a:schemeClr val="dk1"/>
              </a:solidFill>
              <a:latin typeface="Calibri"/>
              <a:ea typeface="Calibri"/>
              <a:cs typeface="Calibri"/>
              <a:sym typeface="Calibri"/>
            </a:endParaRPr>
          </a:p>
        </p:txBody>
      </p:sp>
      <p:sp>
        <p:nvSpPr>
          <p:cNvPr id="103" name="Google Shape;103;p5"/>
          <p:cNvSpPr/>
          <p:nvPr/>
        </p:nvSpPr>
        <p:spPr>
          <a:xfrm>
            <a:off x="685800" y="6172200"/>
            <a:ext cx="1083564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ADCFC"/>
              </a:buClr>
              <a:buSzPts val="1500"/>
              <a:buFont typeface="Calibri"/>
              <a:buNone/>
            </a:pPr>
            <a:r>
              <a:rPr b="0" i="1" lang="en-US" sz="1500" u="none" cap="none" strike="noStrike">
                <a:solidFill>
                  <a:srgbClr val="CADCFC"/>
                </a:solidFill>
                <a:latin typeface="Calibri"/>
                <a:ea typeface="Calibri"/>
                <a:cs typeface="Calibri"/>
                <a:sym typeface="Calibri"/>
              </a:rPr>
              <a:t>Built on Chatbase, free tier, no code. All logic lives in one carefully written system prompt.</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8" name="Shape 108"/>
        <p:cNvGrpSpPr/>
        <p:nvPr/>
      </p:nvGrpSpPr>
      <p:grpSpPr>
        <a:xfrm>
          <a:off x="0" y="0"/>
          <a:ext cx="0" cy="0"/>
          <a:chOff x="0" y="0"/>
          <a:chExt cx="0" cy="0"/>
        </a:xfrm>
      </p:grpSpPr>
      <p:sp>
        <p:nvSpPr>
          <p:cNvPr id="109" name="Google Shape;109;p6"/>
          <p:cNvSpPr/>
          <p:nvPr/>
        </p:nvSpPr>
        <p:spPr>
          <a:xfrm>
            <a:off x="685800" y="457200"/>
            <a:ext cx="109728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4000"/>
              <a:buFont typeface="Cambria"/>
              <a:buNone/>
            </a:pPr>
            <a:r>
              <a:rPr b="1" i="0" lang="en-US" sz="4000" u="none" cap="none" strike="noStrike">
                <a:solidFill>
                  <a:srgbClr val="1E2761"/>
                </a:solidFill>
                <a:latin typeface="Cambria"/>
                <a:ea typeface="Cambria"/>
                <a:cs typeface="Cambria"/>
                <a:sym typeface="Cambria"/>
              </a:rPr>
              <a:t>Live Demo</a:t>
            </a:r>
            <a:endParaRPr b="0" i="0" sz="4000" u="none" cap="none" strike="noStrike">
              <a:solidFill>
                <a:schemeClr val="dk1"/>
              </a:solidFill>
              <a:latin typeface="Calibri"/>
              <a:ea typeface="Calibri"/>
              <a:cs typeface="Calibri"/>
              <a:sym typeface="Calibri"/>
            </a:endParaRPr>
          </a:p>
        </p:txBody>
      </p:sp>
      <p:sp>
        <p:nvSpPr>
          <p:cNvPr id="110" name="Google Shape;110;p6"/>
          <p:cNvSpPr/>
          <p:nvPr/>
        </p:nvSpPr>
        <p:spPr>
          <a:xfrm>
            <a:off x="685800" y="1143000"/>
            <a:ext cx="109728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C"/>
              </a:buClr>
              <a:buSzPts val="1800"/>
              <a:buFont typeface="Calibri"/>
              <a:buNone/>
            </a:pPr>
            <a:r>
              <a:rPr b="0" i="1" lang="en-US" sz="1800" u="none" cap="none" strike="noStrike">
                <a:solidFill>
                  <a:srgbClr val="5A6B8C"/>
                </a:solidFill>
                <a:latin typeface="Calibri"/>
                <a:ea typeface="Calibri"/>
                <a:cs typeface="Calibri"/>
                <a:sym typeface="Calibri"/>
              </a:rPr>
              <a:t>A real scenario one of us actually has this week.</a:t>
            </a:r>
            <a:endParaRPr b="0" i="0" sz="1800" u="none" cap="none" strike="noStrike">
              <a:solidFill>
                <a:schemeClr val="dk1"/>
              </a:solidFill>
              <a:latin typeface="Calibri"/>
              <a:ea typeface="Calibri"/>
              <a:cs typeface="Calibri"/>
              <a:sym typeface="Calibri"/>
            </a:endParaRPr>
          </a:p>
        </p:txBody>
      </p:sp>
      <p:sp>
        <p:nvSpPr>
          <p:cNvPr id="111" name="Google Shape;111;p6"/>
          <p:cNvSpPr/>
          <p:nvPr/>
        </p:nvSpPr>
        <p:spPr>
          <a:xfrm>
            <a:off x="685800" y="1920240"/>
            <a:ext cx="5029200" cy="1463040"/>
          </a:xfrm>
          <a:prstGeom prst="roundRect">
            <a:avLst>
              <a:gd fmla="val 7500" name="adj"/>
            </a:avLst>
          </a:prstGeom>
          <a:solidFill>
            <a:srgbClr val="1E2761"/>
          </a:solidFill>
          <a:ln cap="flat" cmpd="sng" w="12700">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6"/>
          <p:cNvSpPr/>
          <p:nvPr/>
        </p:nvSpPr>
        <p:spPr>
          <a:xfrm>
            <a:off x="868680" y="2057400"/>
            <a:ext cx="46634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6167"/>
              </a:buClr>
              <a:buSzPts val="1000"/>
              <a:buFont typeface="Calibri"/>
              <a:buNone/>
            </a:pPr>
            <a:r>
              <a:rPr b="1" i="0" lang="en-US" sz="1000" u="none" cap="none" strike="noStrike">
                <a:solidFill>
                  <a:srgbClr val="F96167"/>
                </a:solidFill>
                <a:latin typeface="Calibri"/>
                <a:ea typeface="Calibri"/>
                <a:cs typeface="Calibri"/>
                <a:sym typeface="Calibri"/>
              </a:rPr>
              <a:t>USER PROMPT</a:t>
            </a:r>
            <a:endParaRPr b="0" i="0" sz="1000" u="none" cap="none" strike="noStrike">
              <a:solidFill>
                <a:schemeClr val="dk1"/>
              </a:solidFill>
              <a:latin typeface="Calibri"/>
              <a:ea typeface="Calibri"/>
              <a:cs typeface="Calibri"/>
              <a:sym typeface="Calibri"/>
            </a:endParaRPr>
          </a:p>
        </p:txBody>
      </p:sp>
      <p:sp>
        <p:nvSpPr>
          <p:cNvPr id="113" name="Google Shape;113;p6"/>
          <p:cNvSpPr/>
          <p:nvPr/>
        </p:nvSpPr>
        <p:spPr>
          <a:xfrm>
            <a:off x="868680" y="2377440"/>
            <a:ext cx="4663440" cy="9601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0" i="1" lang="en-US" sz="1300" u="none" cap="none" strike="noStrike">
                <a:solidFill>
                  <a:srgbClr val="FFFFFF"/>
                </a:solidFill>
                <a:latin typeface="Calibri"/>
                <a:ea typeface="Calibri"/>
                <a:cs typeface="Calibri"/>
                <a:sym typeface="Calibri"/>
              </a:rPr>
              <a:t>"I have an ML Engineer interview at a fintech startup next Tuesday. I have about two years of experience. Give me practice questions."</a:t>
            </a:r>
            <a:endParaRPr b="0" i="0" sz="1300" u="none" cap="none" strike="noStrike">
              <a:solidFill>
                <a:schemeClr val="dk1"/>
              </a:solidFill>
              <a:latin typeface="Calibri"/>
              <a:ea typeface="Calibri"/>
              <a:cs typeface="Calibri"/>
              <a:sym typeface="Calibri"/>
            </a:endParaRPr>
          </a:p>
        </p:txBody>
      </p:sp>
      <p:sp>
        <p:nvSpPr>
          <p:cNvPr id="114" name="Google Shape;114;p6"/>
          <p:cNvSpPr/>
          <p:nvPr/>
        </p:nvSpPr>
        <p:spPr>
          <a:xfrm>
            <a:off x="685800" y="3611880"/>
            <a:ext cx="5029200" cy="2834640"/>
          </a:xfrm>
          <a:prstGeom prst="roundRect">
            <a:avLst>
              <a:gd fmla="val 3871" name="adj"/>
            </a:avLst>
          </a:prstGeom>
          <a:solidFill>
            <a:srgbClr val="F4F6FB"/>
          </a:solidFill>
          <a:ln cap="flat" cmpd="sng" w="12700">
            <a:solidFill>
              <a:srgbClr val="F4F6F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6"/>
          <p:cNvSpPr/>
          <p:nvPr/>
        </p:nvSpPr>
        <p:spPr>
          <a:xfrm>
            <a:off x="868680" y="3749040"/>
            <a:ext cx="46634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500"/>
              <a:buFont typeface="Cambria"/>
              <a:buNone/>
            </a:pPr>
            <a:r>
              <a:rPr b="1" i="0" lang="en-US" sz="1500" u="none" cap="none" strike="noStrike">
                <a:solidFill>
                  <a:srgbClr val="1E2761"/>
                </a:solidFill>
                <a:latin typeface="Cambria"/>
                <a:ea typeface="Cambria"/>
                <a:cs typeface="Cambria"/>
                <a:sym typeface="Cambria"/>
              </a:rPr>
              <a:t>What makes this different from a prep book</a:t>
            </a:r>
            <a:endParaRPr b="0" i="0" sz="1500" u="none" cap="none" strike="noStrike">
              <a:solidFill>
                <a:schemeClr val="dk1"/>
              </a:solidFill>
              <a:latin typeface="Calibri"/>
              <a:ea typeface="Calibri"/>
              <a:cs typeface="Calibri"/>
              <a:sym typeface="Calibri"/>
            </a:endParaRPr>
          </a:p>
        </p:txBody>
      </p:sp>
      <p:sp>
        <p:nvSpPr>
          <p:cNvPr id="116" name="Google Shape;116;p6"/>
          <p:cNvSpPr/>
          <p:nvPr/>
        </p:nvSpPr>
        <p:spPr>
          <a:xfrm>
            <a:off x="868680" y="4206240"/>
            <a:ext cx="4663440" cy="21031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96167"/>
              </a:buClr>
              <a:buSzPts val="1300"/>
              <a:buFont typeface="Calibri"/>
              <a:buNone/>
            </a:pPr>
            <a:r>
              <a:rPr b="1" i="0" lang="en-US" sz="1300" u="none" cap="none" strike="noStrike">
                <a:solidFill>
                  <a:srgbClr val="F96167"/>
                </a:solidFill>
                <a:latin typeface="Calibri"/>
                <a:ea typeface="Calibri"/>
                <a:cs typeface="Calibri"/>
                <a:sym typeface="Calibri"/>
              </a:rPr>
              <a:t>The last hint on question two.  </a:t>
            </a:r>
            <a:r>
              <a:rPr b="0" i="1" lang="en-US" sz="1300" u="none" cap="none" strike="noStrike">
                <a:solidFill>
                  <a:srgbClr val="1E2761"/>
                </a:solidFill>
                <a:latin typeface="Calibri"/>
                <a:ea typeface="Calibri"/>
                <a:cs typeface="Calibri"/>
                <a:sym typeface="Calibri"/>
              </a:rPr>
              <a:t>It doesn't just give the question. It tells you what the interviewer is listening for.</a:t>
            </a:r>
            <a:r>
              <a:rPr b="0" i="0" lang="en-US" sz="1300" u="none" cap="none" strike="noStrike">
                <a:solidFill>
                  <a:srgbClr val="1E2761"/>
                </a:solidFill>
                <a:latin typeface="Calibri"/>
                <a:ea typeface="Calibri"/>
                <a:cs typeface="Calibri"/>
                <a:sym typeface="Calibri"/>
              </a:rPr>
              <a:t> That's the piece that makes this bot useful.</a:t>
            </a:r>
            <a:endParaRPr b="0" i="0" sz="1300" u="none" cap="none" strike="noStrike">
              <a:solidFill>
                <a:schemeClr val="dk1"/>
              </a:solidFill>
              <a:latin typeface="Calibri"/>
              <a:ea typeface="Calibri"/>
              <a:cs typeface="Calibri"/>
              <a:sym typeface="Calibri"/>
            </a:endParaRPr>
          </a:p>
        </p:txBody>
      </p:sp>
      <p:sp>
        <p:nvSpPr>
          <p:cNvPr id="117" name="Google Shape;117;p6"/>
          <p:cNvSpPr/>
          <p:nvPr/>
        </p:nvSpPr>
        <p:spPr>
          <a:xfrm>
            <a:off x="5943600" y="1920240"/>
            <a:ext cx="5577840" cy="4526280"/>
          </a:xfrm>
          <a:prstGeom prst="roundRect">
            <a:avLst>
              <a:gd fmla="val 2424" name="adj"/>
            </a:avLst>
          </a:prstGeom>
          <a:solidFill>
            <a:srgbClr val="F4F6FB"/>
          </a:solidFill>
          <a:ln cap="flat" cmpd="sng" w="12700">
            <a:solidFill>
              <a:srgbClr val="F4F6F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6"/>
          <p:cNvSpPr/>
          <p:nvPr/>
        </p:nvSpPr>
        <p:spPr>
          <a:xfrm>
            <a:off x="6126480" y="2057400"/>
            <a:ext cx="52120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6167"/>
              </a:buClr>
              <a:buSzPts val="1000"/>
              <a:buFont typeface="Calibri"/>
              <a:buNone/>
            </a:pPr>
            <a:r>
              <a:rPr b="1" i="0" lang="en-US" sz="1000" u="none" cap="none" strike="noStrike">
                <a:solidFill>
                  <a:srgbClr val="F96167"/>
                </a:solidFill>
                <a:latin typeface="Calibri"/>
                <a:ea typeface="Calibri"/>
                <a:cs typeface="Calibri"/>
                <a:sym typeface="Calibri"/>
              </a:rPr>
              <a:t>BOT RESPONSE (excerpt)</a:t>
            </a:r>
            <a:endParaRPr b="0" i="0" sz="1000" u="none" cap="none" strike="noStrike">
              <a:solidFill>
                <a:schemeClr val="dk1"/>
              </a:solidFill>
              <a:latin typeface="Calibri"/>
              <a:ea typeface="Calibri"/>
              <a:cs typeface="Calibri"/>
              <a:sym typeface="Calibri"/>
            </a:endParaRPr>
          </a:p>
        </p:txBody>
      </p:sp>
      <p:sp>
        <p:nvSpPr>
          <p:cNvPr id="119" name="Google Shape;119;p6"/>
          <p:cNvSpPr/>
          <p:nvPr/>
        </p:nvSpPr>
        <p:spPr>
          <a:xfrm>
            <a:off x="6126480" y="2377440"/>
            <a:ext cx="5212080" cy="4023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2761"/>
              </a:buClr>
              <a:buSzPts val="1150"/>
              <a:buFont typeface="Calibri"/>
              <a:buNone/>
            </a:pPr>
            <a:r>
              <a:rPr b="1" i="0" lang="en-US" sz="1150" u="none" cap="none" strike="noStrike">
                <a:solidFill>
                  <a:srgbClr val="1E2761"/>
                </a:solidFill>
                <a:latin typeface="Calibri"/>
                <a:ea typeface="Calibri"/>
                <a:cs typeface="Calibri"/>
                <a:sym typeface="Calibri"/>
              </a:rPr>
              <a:t>Warm-up: </a:t>
            </a:r>
            <a:r>
              <a:rPr b="0" i="0" lang="en-US" sz="1150" u="none" cap="none" strike="noStrike">
                <a:solidFill>
                  <a:srgbClr val="1E2761"/>
                </a:solidFill>
                <a:latin typeface="Calibri"/>
                <a:ea typeface="Calibri"/>
                <a:cs typeface="Calibri"/>
                <a:sym typeface="Calibri"/>
              </a:rPr>
              <a:t>Tell me about an ML project you've shipped end-to-end and what impact it had.</a:t>
            </a:r>
            <a:r>
              <a:rPr b="0" i="1" lang="en-US" sz="1000" u="none" cap="none" strike="noStrike">
                <a:solidFill>
                  <a:srgbClr val="5A6B8C"/>
                </a:solidFill>
                <a:latin typeface="Calibri"/>
                <a:ea typeface="Calibri"/>
                <a:cs typeface="Calibri"/>
                <a:sym typeface="Calibri"/>
              </a:rPr>
              <a:t>— They want ownership and business connection.</a:t>
            </a:r>
            <a:r>
              <a:rPr b="0" i="0" lang="en-US" sz="1150" u="none" cap="none" strike="noStrike">
                <a:solidFill>
                  <a:srgbClr val="1E2761"/>
                </a:solidFill>
                <a:latin typeface="Calibri"/>
                <a:ea typeface="Calibri"/>
                <a:cs typeface="Calibri"/>
                <a:sym typeface="Calibri"/>
              </a:rPr>
              <a:t> </a:t>
            </a:r>
            <a:r>
              <a:rPr b="1" i="0" lang="en-US" sz="1150" u="none" cap="none" strike="noStrike">
                <a:solidFill>
                  <a:srgbClr val="1E2761"/>
                </a:solidFill>
                <a:latin typeface="Calibri"/>
                <a:ea typeface="Calibri"/>
                <a:cs typeface="Calibri"/>
                <a:sym typeface="Calibri"/>
              </a:rPr>
              <a:t>Technical: </a:t>
            </a:r>
            <a:r>
              <a:rPr b="0" i="0" lang="en-US" sz="1150" u="none" cap="none" strike="noStrike">
                <a:solidFill>
                  <a:srgbClr val="1E2761"/>
                </a:solidFill>
                <a:latin typeface="Calibri"/>
                <a:ea typeface="Calibri"/>
                <a:cs typeface="Calibri"/>
                <a:sym typeface="Calibri"/>
              </a:rPr>
              <a:t>How would you design a fraud detection model where labels arrive late and class imbalance is severe?</a:t>
            </a:r>
            <a:r>
              <a:rPr b="0" i="1" lang="en-US" sz="1000" u="none" cap="none" strike="noStrike">
                <a:solidFill>
                  <a:srgbClr val="5A6B8C"/>
                </a:solidFill>
                <a:latin typeface="Calibri"/>
                <a:ea typeface="Calibri"/>
                <a:cs typeface="Calibri"/>
                <a:sym typeface="Calibri"/>
              </a:rPr>
              <a:t>— Handling real-world constraints, not textbook accuracy.</a:t>
            </a:r>
            <a:r>
              <a:rPr b="0" i="0" lang="en-US" sz="1150" u="none" cap="none" strike="noStrike">
                <a:solidFill>
                  <a:srgbClr val="1E2761"/>
                </a:solidFill>
                <a:latin typeface="Calibri"/>
                <a:ea typeface="Calibri"/>
                <a:cs typeface="Calibri"/>
                <a:sym typeface="Calibri"/>
              </a:rPr>
              <a:t> </a:t>
            </a:r>
            <a:r>
              <a:rPr b="1" i="0" lang="en-US" sz="1150" u="none" cap="none" strike="noStrike">
                <a:solidFill>
                  <a:srgbClr val="1E2761"/>
                </a:solidFill>
                <a:latin typeface="Calibri"/>
                <a:ea typeface="Calibri"/>
                <a:cs typeface="Calibri"/>
                <a:sym typeface="Calibri"/>
              </a:rPr>
              <a:t>Behavioral: </a:t>
            </a:r>
            <a:r>
              <a:rPr b="0" i="0" lang="en-US" sz="1150" u="none" cap="none" strike="noStrike">
                <a:solidFill>
                  <a:srgbClr val="1E2761"/>
                </a:solidFill>
                <a:latin typeface="Calibri"/>
                <a:ea typeface="Calibri"/>
                <a:cs typeface="Calibri"/>
                <a:sym typeface="Calibri"/>
              </a:rPr>
              <a:t>Describe a time you disagreed with a stakeholder about a model decision.</a:t>
            </a:r>
            <a:r>
              <a:rPr b="0" i="1" lang="en-US" sz="1000" u="none" cap="none" strike="noStrike">
                <a:solidFill>
                  <a:srgbClr val="5A6B8C"/>
                </a:solidFill>
                <a:latin typeface="Calibri"/>
                <a:ea typeface="Calibri"/>
                <a:cs typeface="Calibri"/>
                <a:sym typeface="Calibri"/>
              </a:rPr>
              <a:t>— Communication and technical judgment together.</a:t>
            </a:r>
            <a:r>
              <a:rPr b="0" i="0" lang="en-US" sz="1150" u="none" cap="none" strike="noStrike">
                <a:solidFill>
                  <a:srgbClr val="1E2761"/>
                </a:solidFill>
                <a:latin typeface="Calibri"/>
                <a:ea typeface="Calibri"/>
                <a:cs typeface="Calibri"/>
                <a:sym typeface="Calibri"/>
              </a:rPr>
              <a:t> </a:t>
            </a:r>
            <a:r>
              <a:rPr b="1" i="0" lang="en-US" sz="1150" u="none" cap="none" strike="noStrike">
                <a:solidFill>
                  <a:srgbClr val="1E2761"/>
                </a:solidFill>
                <a:latin typeface="Calibri"/>
                <a:ea typeface="Calibri"/>
                <a:cs typeface="Calibri"/>
                <a:sym typeface="Calibri"/>
              </a:rPr>
              <a:t>Curveball: </a:t>
            </a:r>
            <a:r>
              <a:rPr b="0" i="0" lang="en-US" sz="1150" u="none" cap="none" strike="noStrike">
                <a:solidFill>
                  <a:srgbClr val="1E2761"/>
                </a:solidFill>
                <a:latin typeface="Calibri"/>
                <a:ea typeface="Calibri"/>
                <a:cs typeface="Calibri"/>
                <a:sym typeface="Calibri"/>
              </a:rPr>
              <a:t>Your model has 99% accuracy in test. What's the first thing you check before shipping?</a:t>
            </a:r>
            <a:r>
              <a:rPr b="0" i="1" lang="en-US" sz="1000" u="none" cap="none" strike="noStrike">
                <a:solidFill>
                  <a:srgbClr val="5A6B8C"/>
                </a:solidFill>
                <a:latin typeface="Calibri"/>
                <a:ea typeface="Calibri"/>
                <a:cs typeface="Calibri"/>
                <a:sym typeface="Calibri"/>
              </a:rPr>
              <a:t>— Data leakage, evaluation methodology, red-flag awareness.</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4" name="Shape 124"/>
        <p:cNvGrpSpPr/>
        <p:nvPr/>
      </p:nvGrpSpPr>
      <p:grpSpPr>
        <a:xfrm>
          <a:off x="0" y="0"/>
          <a:ext cx="0" cy="0"/>
          <a:chOff x="0" y="0"/>
          <a:chExt cx="0" cy="0"/>
        </a:xfrm>
      </p:grpSpPr>
      <p:sp>
        <p:nvSpPr>
          <p:cNvPr id="125" name="Google Shape;125;p7"/>
          <p:cNvSpPr/>
          <p:nvPr/>
        </p:nvSpPr>
        <p:spPr>
          <a:xfrm>
            <a:off x="325500" y="134200"/>
            <a:ext cx="109728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4000"/>
              <a:buFont typeface="Cambria"/>
              <a:buNone/>
            </a:pPr>
            <a:r>
              <a:rPr b="1" lang="en-US" sz="4000">
                <a:solidFill>
                  <a:srgbClr val="1E2761"/>
                </a:solidFill>
                <a:latin typeface="Cambria"/>
                <a:ea typeface="Cambria"/>
                <a:cs typeface="Cambria"/>
                <a:sym typeface="Cambria"/>
              </a:rPr>
              <a:t>TEST SCENARIOS</a:t>
            </a:r>
            <a:endParaRPr b="0" i="0" sz="4000" u="none" cap="none" strike="noStrike">
              <a:solidFill>
                <a:schemeClr val="dk1"/>
              </a:solidFill>
              <a:latin typeface="Calibri"/>
              <a:ea typeface="Calibri"/>
              <a:cs typeface="Calibri"/>
              <a:sym typeface="Calibri"/>
            </a:endParaRPr>
          </a:p>
        </p:txBody>
      </p:sp>
      <p:graphicFrame>
        <p:nvGraphicFramePr>
          <p:cNvPr id="126" name="Google Shape;126;p7"/>
          <p:cNvGraphicFramePr/>
          <p:nvPr/>
        </p:nvGraphicFramePr>
        <p:xfrm>
          <a:off x="207100" y="774400"/>
          <a:ext cx="3000000" cy="3000000"/>
        </p:xfrm>
        <a:graphic>
          <a:graphicData uri="http://schemas.openxmlformats.org/drawingml/2006/table">
            <a:tbl>
              <a:tblPr>
                <a:noFill/>
                <a:tableStyleId>{D3036B7A-1D24-40A6-9C43-92C5EFDC3B09}</a:tableStyleId>
              </a:tblPr>
              <a:tblGrid>
                <a:gridCol w="586500"/>
                <a:gridCol w="4080275"/>
                <a:gridCol w="6961975"/>
              </a:tblGrid>
              <a:tr h="217675">
                <a:tc>
                  <a:txBody>
                    <a:bodyPr/>
                    <a:lstStyle/>
                    <a:p>
                      <a:pPr indent="0" lvl="0" marL="0" rtl="0" algn="ctr">
                        <a:lnSpc>
                          <a:spcPct val="115000"/>
                        </a:lnSpc>
                        <a:spcBef>
                          <a:spcPts val="1200"/>
                        </a:spcBef>
                        <a:spcAft>
                          <a:spcPts val="1200"/>
                        </a:spcAft>
                        <a:buNone/>
                      </a:pPr>
                      <a:r>
                        <a:rPr b="1" lang="en-US" sz="1100"/>
                        <a:t>#</a:t>
                      </a:r>
                      <a:endParaRPr b="1" sz="1100"/>
                    </a:p>
                  </a:txBody>
                  <a:tcPr marT="91425" marB="91425" marR="91425" marL="91425"/>
                </a:tc>
                <a:tc>
                  <a:txBody>
                    <a:bodyPr/>
                    <a:lstStyle/>
                    <a:p>
                      <a:pPr indent="0" lvl="0" marL="0" rtl="0" algn="ctr">
                        <a:lnSpc>
                          <a:spcPct val="115000"/>
                        </a:lnSpc>
                        <a:spcBef>
                          <a:spcPts val="1200"/>
                        </a:spcBef>
                        <a:spcAft>
                          <a:spcPts val="1200"/>
                        </a:spcAft>
                        <a:buNone/>
                      </a:pPr>
                      <a:r>
                        <a:rPr b="1" lang="en-US" sz="1100"/>
                        <a:t>Scenario</a:t>
                      </a:r>
                      <a:endParaRPr b="1" sz="1100"/>
                    </a:p>
                  </a:txBody>
                  <a:tcPr marT="91425" marB="91425" marR="91425" marL="91425"/>
                </a:tc>
                <a:tc>
                  <a:txBody>
                    <a:bodyPr/>
                    <a:lstStyle/>
                    <a:p>
                      <a:pPr indent="0" lvl="0" marL="0" rtl="0" algn="ctr">
                        <a:lnSpc>
                          <a:spcPct val="115000"/>
                        </a:lnSpc>
                        <a:spcBef>
                          <a:spcPts val="1200"/>
                        </a:spcBef>
                        <a:spcAft>
                          <a:spcPts val="1200"/>
                        </a:spcAft>
                        <a:buNone/>
                      </a:pPr>
                      <a:r>
                        <a:rPr b="1" lang="en-US" sz="1100"/>
                        <a:t>Result</a:t>
                      </a:r>
                      <a:endParaRPr b="1" sz="1100"/>
                    </a:p>
                  </a:txBody>
                  <a:tcPr marT="91425" marB="91425" marR="91425" marL="91425"/>
                </a:tc>
              </a:tr>
              <a:tr h="227150">
                <a:tc>
                  <a:txBody>
                    <a:bodyPr/>
                    <a:lstStyle/>
                    <a:p>
                      <a:pPr indent="0" lvl="0" marL="0" rtl="0" algn="l">
                        <a:lnSpc>
                          <a:spcPct val="115000"/>
                        </a:lnSpc>
                        <a:spcBef>
                          <a:spcPts val="1200"/>
                        </a:spcBef>
                        <a:spcAft>
                          <a:spcPts val="1200"/>
                        </a:spcAft>
                        <a:buNone/>
                      </a:pPr>
                      <a:r>
                        <a:rPr lang="en-US" sz="1200"/>
                        <a:t>1</a:t>
                      </a:r>
                      <a:endParaRPr sz="1200"/>
                    </a:p>
                  </a:txBody>
                  <a:tcPr marT="91425" marB="91425" marR="91425" marL="91425"/>
                </a:tc>
                <a:tc>
                  <a:txBody>
                    <a:bodyPr/>
                    <a:lstStyle/>
                    <a:p>
                      <a:pPr indent="0" lvl="0" marL="0" rtl="0" algn="l">
                        <a:lnSpc>
                          <a:spcPct val="115000"/>
                        </a:lnSpc>
                        <a:spcBef>
                          <a:spcPts val="1200"/>
                        </a:spcBef>
                        <a:spcAft>
                          <a:spcPts val="1200"/>
                        </a:spcAft>
                        <a:buNone/>
                      </a:pPr>
                      <a:r>
                        <a:rPr lang="en-US" sz="1200"/>
                        <a:t>Basic prep (Data Analyst, healthcare)</a:t>
                      </a:r>
                      <a:endParaRPr sz="1200"/>
                    </a:p>
                  </a:txBody>
                  <a:tcPr marT="91425" marB="91425" marR="91425" marL="91425"/>
                </a:tc>
                <a:tc>
                  <a:txBody>
                    <a:bodyPr/>
                    <a:lstStyle/>
                    <a:p>
                      <a:pPr indent="0" lvl="0" marL="0" rtl="0" algn="l">
                        <a:lnSpc>
                          <a:spcPct val="115000"/>
                        </a:lnSpc>
                        <a:spcBef>
                          <a:spcPts val="1200"/>
                        </a:spcBef>
                        <a:spcAft>
                          <a:spcPts val="1200"/>
                        </a:spcAft>
                        <a:buNone/>
                      </a:pPr>
                      <a:r>
                        <a:rPr lang="en-US" sz="1200"/>
                        <a:t>✅ Pass -</a:t>
                      </a:r>
                      <a:endParaRPr sz="1200"/>
                    </a:p>
                  </a:txBody>
                  <a:tcPr marT="91425" marB="91425" marR="91425" marL="91425"/>
                </a:tc>
              </a:tr>
              <a:tr h="227150">
                <a:tc>
                  <a:txBody>
                    <a:bodyPr/>
                    <a:lstStyle/>
                    <a:p>
                      <a:pPr indent="0" lvl="0" marL="0" rtl="0" algn="l">
                        <a:lnSpc>
                          <a:spcPct val="115000"/>
                        </a:lnSpc>
                        <a:spcBef>
                          <a:spcPts val="1200"/>
                        </a:spcBef>
                        <a:spcAft>
                          <a:spcPts val="1200"/>
                        </a:spcAft>
                        <a:buNone/>
                      </a:pPr>
                      <a:r>
                        <a:rPr lang="en-US" sz="1200"/>
                        <a:t>2</a:t>
                      </a:r>
                      <a:endParaRPr sz="1200"/>
                    </a:p>
                  </a:txBody>
                  <a:tcPr marT="91425" marB="91425" marR="91425" marL="91425"/>
                </a:tc>
                <a:tc>
                  <a:txBody>
                    <a:bodyPr/>
                    <a:lstStyle/>
                    <a:p>
                      <a:pPr indent="0" lvl="0" marL="0" rtl="0" algn="l">
                        <a:lnSpc>
                          <a:spcPct val="115000"/>
                        </a:lnSpc>
                        <a:spcBef>
                          <a:spcPts val="1200"/>
                        </a:spcBef>
                        <a:spcAft>
                          <a:spcPts val="1200"/>
                        </a:spcAft>
                        <a:buNone/>
                      </a:pPr>
                      <a:r>
                        <a:rPr lang="en-US" sz="1200"/>
                        <a:t>Off-topic (flight booking)</a:t>
                      </a:r>
                      <a:endParaRPr sz="1200"/>
                    </a:p>
                  </a:txBody>
                  <a:tcPr marT="91425" marB="91425" marR="91425" marL="91425"/>
                </a:tc>
                <a:tc>
                  <a:txBody>
                    <a:bodyPr/>
                    <a:lstStyle/>
                    <a:p>
                      <a:pPr indent="0" lvl="0" marL="0" rtl="0" algn="l">
                        <a:lnSpc>
                          <a:spcPct val="115000"/>
                        </a:lnSpc>
                        <a:spcBef>
                          <a:spcPts val="1200"/>
                        </a:spcBef>
                        <a:spcAft>
                          <a:spcPts val="1200"/>
                        </a:spcAft>
                        <a:buNone/>
                      </a:pPr>
                      <a:r>
                        <a:rPr lang="en-US" sz="1200"/>
                        <a:t>✅ Pass</a:t>
                      </a:r>
                      <a:endParaRPr sz="1200"/>
                    </a:p>
                  </a:txBody>
                  <a:tcPr marT="91425" marB="91425" marR="91425" marL="91425"/>
                </a:tc>
              </a:tr>
              <a:tr h="227150">
                <a:tc>
                  <a:txBody>
                    <a:bodyPr/>
                    <a:lstStyle/>
                    <a:p>
                      <a:pPr indent="0" lvl="0" marL="0" rtl="0" algn="l">
                        <a:lnSpc>
                          <a:spcPct val="115000"/>
                        </a:lnSpc>
                        <a:spcBef>
                          <a:spcPts val="1200"/>
                        </a:spcBef>
                        <a:spcAft>
                          <a:spcPts val="1200"/>
                        </a:spcAft>
                        <a:buNone/>
                      </a:pPr>
                      <a:r>
                        <a:rPr lang="en-US" sz="1200"/>
                        <a:t>3</a:t>
                      </a:r>
                      <a:endParaRPr sz="1200"/>
                    </a:p>
                  </a:txBody>
                  <a:tcPr marT="91425" marB="91425" marR="91425" marL="91425"/>
                </a:tc>
                <a:tc>
                  <a:txBody>
                    <a:bodyPr/>
                    <a:lstStyle/>
                    <a:p>
                      <a:pPr indent="0" lvl="0" marL="0" rtl="0" algn="l">
                        <a:lnSpc>
                          <a:spcPct val="115000"/>
                        </a:lnSpc>
                        <a:spcBef>
                          <a:spcPts val="1200"/>
                        </a:spcBef>
                        <a:spcAft>
                          <a:spcPts val="1200"/>
                        </a:spcAft>
                        <a:buNone/>
                      </a:pPr>
                      <a:r>
                        <a:rPr lang="en-US" sz="1200"/>
                        <a:t>Behavioral + feedback loop</a:t>
                      </a:r>
                      <a:endParaRPr sz="1200"/>
                    </a:p>
                  </a:txBody>
                  <a:tcPr marT="91425" marB="91425" marR="91425" marL="91425"/>
                </a:tc>
                <a:tc>
                  <a:txBody>
                    <a:bodyPr/>
                    <a:lstStyle/>
                    <a:p>
                      <a:pPr indent="0" lvl="0" marL="0" rtl="0" algn="l">
                        <a:lnSpc>
                          <a:spcPct val="115000"/>
                        </a:lnSpc>
                        <a:spcBef>
                          <a:spcPts val="1200"/>
                        </a:spcBef>
                        <a:spcAft>
                          <a:spcPts val="1200"/>
                        </a:spcAft>
                        <a:buNone/>
                      </a:pPr>
                      <a:r>
                        <a:rPr lang="en-US" sz="1200"/>
                        <a:t>✅ Pass  - Result: ✅ PASSED — BEST FEATURE</a:t>
                      </a:r>
                      <a:endParaRPr sz="1200"/>
                    </a:p>
                  </a:txBody>
                  <a:tcPr marT="91425" marB="91425" marR="91425" marL="91425"/>
                </a:tc>
              </a:tr>
              <a:tr h="227150">
                <a:tc>
                  <a:txBody>
                    <a:bodyPr/>
                    <a:lstStyle/>
                    <a:p>
                      <a:pPr indent="0" lvl="0" marL="0" rtl="0" algn="l">
                        <a:lnSpc>
                          <a:spcPct val="115000"/>
                        </a:lnSpc>
                        <a:spcBef>
                          <a:spcPts val="1200"/>
                        </a:spcBef>
                        <a:spcAft>
                          <a:spcPts val="1200"/>
                        </a:spcAft>
                        <a:buNone/>
                      </a:pPr>
                      <a:r>
                        <a:rPr lang="en-US" sz="1200"/>
                        <a:t>4</a:t>
                      </a:r>
                      <a:endParaRPr sz="1200"/>
                    </a:p>
                  </a:txBody>
                  <a:tcPr marT="91425" marB="91425" marR="91425" marL="91425"/>
                </a:tc>
                <a:tc>
                  <a:txBody>
                    <a:bodyPr/>
                    <a:lstStyle/>
                    <a:p>
                      <a:pPr indent="0" lvl="0" marL="0" rtl="0" algn="l">
                        <a:lnSpc>
                          <a:spcPct val="115000"/>
                        </a:lnSpc>
                        <a:spcBef>
                          <a:spcPts val="1200"/>
                        </a:spcBef>
                        <a:spcAft>
                          <a:spcPts val="1200"/>
                        </a:spcAft>
                        <a:buNone/>
                      </a:pPr>
                      <a:r>
                        <a:rPr lang="en-US" sz="1200"/>
                        <a:t>Salary negotiation (edge case)</a:t>
                      </a:r>
                      <a:endParaRPr sz="1200"/>
                    </a:p>
                  </a:txBody>
                  <a:tcPr marT="91425" marB="91425" marR="91425" marL="91425"/>
                </a:tc>
                <a:tc>
                  <a:txBody>
                    <a:bodyPr/>
                    <a:lstStyle/>
                    <a:p>
                      <a:pPr indent="0" lvl="0" marL="0" rtl="0" algn="l">
                        <a:lnSpc>
                          <a:spcPct val="115000"/>
                        </a:lnSpc>
                        <a:spcBef>
                          <a:spcPts val="1200"/>
                        </a:spcBef>
                        <a:spcAft>
                          <a:spcPts val="1200"/>
                        </a:spcAft>
                        <a:buNone/>
                      </a:pPr>
                      <a:r>
                        <a:rPr lang="en-US" sz="1200"/>
                        <a:t>✅ Pass  - SCENARIO 4 — Salary Negotiation Advice (Tricky Edge Case)</a:t>
                      </a:r>
                      <a:endParaRPr sz="1200"/>
                    </a:p>
                  </a:txBody>
                  <a:tcPr marT="91425" marB="91425" marR="91425" marL="91425"/>
                </a:tc>
              </a:tr>
              <a:tr h="227150">
                <a:tc>
                  <a:txBody>
                    <a:bodyPr/>
                    <a:lstStyle/>
                    <a:p>
                      <a:pPr indent="0" lvl="0" marL="0" rtl="0" algn="l">
                        <a:lnSpc>
                          <a:spcPct val="115000"/>
                        </a:lnSpc>
                        <a:spcBef>
                          <a:spcPts val="1200"/>
                        </a:spcBef>
                        <a:spcAft>
                          <a:spcPts val="1200"/>
                        </a:spcAft>
                        <a:buNone/>
                      </a:pPr>
                      <a:r>
                        <a:rPr lang="en-US" sz="1200"/>
                        <a:t>5</a:t>
                      </a:r>
                      <a:endParaRPr sz="1200"/>
                    </a:p>
                  </a:txBody>
                  <a:tcPr marT="91425" marB="91425" marR="91425" marL="91425"/>
                </a:tc>
                <a:tc>
                  <a:txBody>
                    <a:bodyPr/>
                    <a:lstStyle/>
                    <a:p>
                      <a:pPr indent="0" lvl="0" marL="0" rtl="0" algn="l">
                        <a:lnSpc>
                          <a:spcPct val="115000"/>
                        </a:lnSpc>
                        <a:spcBef>
                          <a:spcPts val="1200"/>
                        </a:spcBef>
                        <a:spcAft>
                          <a:spcPts val="1200"/>
                        </a:spcAft>
                        <a:buNone/>
                      </a:pPr>
                      <a:r>
                        <a:rPr lang="en-US" sz="1200"/>
                        <a:t>Vague single-word input</a:t>
                      </a:r>
                      <a:endParaRPr sz="1200"/>
                    </a:p>
                  </a:txBody>
                  <a:tcPr marT="91425" marB="91425" marR="91425" marL="91425"/>
                </a:tc>
                <a:tc>
                  <a:txBody>
                    <a:bodyPr/>
                    <a:lstStyle/>
                    <a:p>
                      <a:pPr indent="0" lvl="0" marL="0" rtl="0" algn="l">
                        <a:lnSpc>
                          <a:spcPct val="115000"/>
                        </a:lnSpc>
                        <a:spcBef>
                          <a:spcPts val="1200"/>
                        </a:spcBef>
                        <a:spcAft>
                          <a:spcPts val="1200"/>
                        </a:spcAft>
                        <a:buNone/>
                      </a:pPr>
                      <a:r>
                        <a:rPr lang="en-US" sz="1200"/>
                        <a:t>✅ Pass - Vague/Incomplete Input (just typed "interview")</a:t>
                      </a:r>
                      <a:endParaRPr sz="1200"/>
                    </a:p>
                  </a:txBody>
                  <a:tcPr marT="91425" marB="91425" marR="91425" marL="91425"/>
                </a:tc>
              </a:tr>
              <a:tr h="227150">
                <a:tc>
                  <a:txBody>
                    <a:bodyPr/>
                    <a:lstStyle/>
                    <a:p>
                      <a:pPr indent="0" lvl="0" marL="0" rtl="0" algn="l">
                        <a:lnSpc>
                          <a:spcPct val="115000"/>
                        </a:lnSpc>
                        <a:spcBef>
                          <a:spcPts val="1200"/>
                        </a:spcBef>
                        <a:spcAft>
                          <a:spcPts val="1200"/>
                        </a:spcAft>
                        <a:buNone/>
                      </a:pPr>
                      <a:r>
                        <a:rPr lang="en-US" sz="1200"/>
                        <a:t>6</a:t>
                      </a:r>
                      <a:endParaRPr sz="1200"/>
                    </a:p>
                  </a:txBody>
                  <a:tcPr marT="91425" marB="91425" marR="91425" marL="91425"/>
                </a:tc>
                <a:tc>
                  <a:txBody>
                    <a:bodyPr/>
                    <a:lstStyle/>
                    <a:p>
                      <a:pPr indent="0" lvl="0" marL="0" rtl="0" algn="l">
                        <a:lnSpc>
                          <a:spcPct val="115000"/>
                        </a:lnSpc>
                        <a:spcBef>
                          <a:spcPts val="1200"/>
                        </a:spcBef>
                        <a:spcAft>
                          <a:spcPts val="1200"/>
                        </a:spcAft>
                        <a:buNone/>
                      </a:pPr>
                      <a:r>
                        <a:rPr lang="en-US" sz="1200"/>
                        <a:t>System design drill (Amazon)</a:t>
                      </a:r>
                      <a:endParaRPr sz="1200"/>
                    </a:p>
                  </a:txBody>
                  <a:tcPr marT="91425" marB="91425" marR="91425" marL="91425"/>
                </a:tc>
                <a:tc>
                  <a:txBody>
                    <a:bodyPr/>
                    <a:lstStyle/>
                    <a:p>
                      <a:pPr indent="0" lvl="0" marL="0" rtl="0" algn="l">
                        <a:lnSpc>
                          <a:spcPct val="115000"/>
                        </a:lnSpc>
                        <a:spcBef>
                          <a:spcPts val="1200"/>
                        </a:spcBef>
                        <a:spcAft>
                          <a:spcPts val="1200"/>
                        </a:spcAft>
                        <a:buNone/>
                      </a:pPr>
                      <a:r>
                        <a:rPr lang="en-US" sz="1200"/>
                        <a:t>✅ Pass</a:t>
                      </a:r>
                      <a:endParaRPr sz="1200"/>
                    </a:p>
                  </a:txBody>
                  <a:tcPr marT="91425" marB="91425" marR="91425" marL="91425"/>
                </a:tc>
              </a:tr>
              <a:tr h="227150">
                <a:tc>
                  <a:txBody>
                    <a:bodyPr/>
                    <a:lstStyle/>
                    <a:p>
                      <a:pPr indent="0" lvl="0" marL="0" rtl="0" algn="l">
                        <a:lnSpc>
                          <a:spcPct val="115000"/>
                        </a:lnSpc>
                        <a:spcBef>
                          <a:spcPts val="1200"/>
                        </a:spcBef>
                        <a:spcAft>
                          <a:spcPts val="1200"/>
                        </a:spcAft>
                        <a:buNone/>
                      </a:pPr>
                      <a:r>
                        <a:rPr lang="en-US" sz="1200"/>
                        <a:t>7</a:t>
                      </a:r>
                      <a:endParaRPr sz="1200"/>
                    </a:p>
                  </a:txBody>
                  <a:tcPr marT="91425" marB="91425" marR="91425" marL="91425"/>
                </a:tc>
                <a:tc>
                  <a:txBody>
                    <a:bodyPr/>
                    <a:lstStyle/>
                    <a:p>
                      <a:pPr indent="0" lvl="0" marL="0" rtl="0" algn="l">
                        <a:lnSpc>
                          <a:spcPct val="115000"/>
                        </a:lnSpc>
                        <a:spcBef>
                          <a:spcPts val="1200"/>
                        </a:spcBef>
                        <a:spcAft>
                          <a:spcPts val="1200"/>
                        </a:spcAft>
                        <a:buNone/>
                      </a:pPr>
                      <a:r>
                        <a:rPr lang="en-US" sz="1200"/>
                        <a:t>Resume writing (out of scope)</a:t>
                      </a:r>
                      <a:endParaRPr sz="1200"/>
                    </a:p>
                  </a:txBody>
                  <a:tcPr marT="91425" marB="91425" marR="91425" marL="91425"/>
                </a:tc>
                <a:tc>
                  <a:txBody>
                    <a:bodyPr/>
                    <a:lstStyle/>
                    <a:p>
                      <a:pPr indent="0" lvl="0" marL="0" rtl="0" algn="l">
                        <a:lnSpc>
                          <a:spcPct val="115000"/>
                        </a:lnSpc>
                        <a:spcBef>
                          <a:spcPts val="1200"/>
                        </a:spcBef>
                        <a:spcAft>
                          <a:spcPts val="1200"/>
                        </a:spcAft>
                        <a:buNone/>
                      </a:pPr>
                      <a:r>
                        <a:rPr lang="en-US" sz="1200"/>
                        <a:t>✅ Pass</a:t>
                      </a:r>
                      <a:endParaRPr sz="1200"/>
                    </a:p>
                  </a:txBody>
                  <a:tcPr marT="91425" marB="91425" marR="91425" marL="91425"/>
                </a:tc>
              </a:tr>
              <a:tr h="227150">
                <a:tc>
                  <a:txBody>
                    <a:bodyPr/>
                    <a:lstStyle/>
                    <a:p>
                      <a:pPr indent="0" lvl="0" marL="0" rtl="0" algn="l">
                        <a:lnSpc>
                          <a:spcPct val="115000"/>
                        </a:lnSpc>
                        <a:spcBef>
                          <a:spcPts val="1200"/>
                        </a:spcBef>
                        <a:spcAft>
                          <a:spcPts val="1200"/>
                        </a:spcAft>
                        <a:buNone/>
                      </a:pPr>
                      <a:r>
                        <a:rPr lang="en-US" sz="1200"/>
                        <a:t>8</a:t>
                      </a:r>
                      <a:endParaRPr sz="1200"/>
                    </a:p>
                  </a:txBody>
                  <a:tcPr marT="91425" marB="91425" marR="91425" marL="91425"/>
                </a:tc>
                <a:tc>
                  <a:txBody>
                    <a:bodyPr/>
                    <a:lstStyle/>
                    <a:p>
                      <a:pPr indent="0" lvl="0" marL="0" rtl="0" algn="l">
                        <a:lnSpc>
                          <a:spcPct val="115000"/>
                        </a:lnSpc>
                        <a:spcBef>
                          <a:spcPts val="1200"/>
                        </a:spcBef>
                        <a:spcAft>
                          <a:spcPts val="1200"/>
                        </a:spcAft>
                        <a:buNone/>
                      </a:pPr>
                      <a:r>
                        <a:rPr lang="en-US" sz="1200"/>
                        <a:t>Weak answer feedback</a:t>
                      </a:r>
                      <a:endParaRPr sz="1200"/>
                    </a:p>
                  </a:txBody>
                  <a:tcPr marT="91425" marB="91425" marR="91425" marL="91425"/>
                </a:tc>
                <a:tc>
                  <a:txBody>
                    <a:bodyPr/>
                    <a:lstStyle/>
                    <a:p>
                      <a:pPr indent="0" lvl="0" marL="0" rtl="0" algn="l">
                        <a:lnSpc>
                          <a:spcPct val="115000"/>
                        </a:lnSpc>
                        <a:spcBef>
                          <a:spcPts val="1200"/>
                        </a:spcBef>
                        <a:spcAft>
                          <a:spcPts val="1200"/>
                        </a:spcAft>
                        <a:buNone/>
                      </a:pPr>
                      <a:r>
                        <a:rPr lang="en-US" sz="1200"/>
                        <a:t>✅ Pass</a:t>
                      </a:r>
                      <a:endParaRPr sz="1200"/>
                    </a:p>
                  </a:txBody>
                  <a:tcPr marT="91425" marB="91425" marR="91425" marL="91425"/>
                </a:tc>
              </a:tr>
              <a:tr h="227150">
                <a:tc>
                  <a:txBody>
                    <a:bodyPr/>
                    <a:lstStyle/>
                    <a:p>
                      <a:pPr indent="0" lvl="0" marL="0" rtl="0" algn="l">
                        <a:lnSpc>
                          <a:spcPct val="115000"/>
                        </a:lnSpc>
                        <a:spcBef>
                          <a:spcPts val="1200"/>
                        </a:spcBef>
                        <a:spcAft>
                          <a:spcPts val="1200"/>
                        </a:spcAft>
                        <a:buNone/>
                      </a:pPr>
                      <a:r>
                        <a:rPr lang="en-US" sz="1200"/>
                        <a:t>9</a:t>
                      </a:r>
                      <a:endParaRPr sz="1200"/>
                    </a:p>
                  </a:txBody>
                  <a:tcPr marT="91425" marB="91425" marR="91425" marL="91425"/>
                </a:tc>
                <a:tc>
                  <a:txBody>
                    <a:bodyPr/>
                    <a:lstStyle/>
                    <a:p>
                      <a:pPr indent="0" lvl="0" marL="0" rtl="0" algn="l">
                        <a:lnSpc>
                          <a:spcPct val="115000"/>
                        </a:lnSpc>
                        <a:spcBef>
                          <a:spcPts val="1200"/>
                        </a:spcBef>
                        <a:spcAft>
                          <a:spcPts val="1200"/>
                        </a:spcAft>
                        <a:buNone/>
                      </a:pPr>
                      <a:r>
                        <a:rPr lang="en-US" sz="1200"/>
                        <a:t>Emotional/anxiety input</a:t>
                      </a:r>
                      <a:endParaRPr sz="1200"/>
                    </a:p>
                  </a:txBody>
                  <a:tcPr marT="91425" marB="91425" marR="91425" marL="91425"/>
                </a:tc>
                <a:tc>
                  <a:txBody>
                    <a:bodyPr/>
                    <a:lstStyle/>
                    <a:p>
                      <a:pPr indent="0" lvl="0" marL="0" rtl="0" algn="l">
                        <a:lnSpc>
                          <a:spcPct val="115000"/>
                        </a:lnSpc>
                        <a:spcBef>
                          <a:spcPts val="1200"/>
                        </a:spcBef>
                        <a:spcAft>
                          <a:spcPts val="1200"/>
                        </a:spcAft>
                        <a:buNone/>
                      </a:pPr>
                      <a:r>
                        <a:rPr lang="en-US" sz="1200"/>
                        <a:t>✅ Pass</a:t>
                      </a:r>
                      <a:endParaRPr sz="1200"/>
                    </a:p>
                  </a:txBody>
                  <a:tcPr marT="91425" marB="91425" marR="91425" marL="91425"/>
                </a:tc>
              </a:tr>
              <a:tr h="227150">
                <a:tc>
                  <a:txBody>
                    <a:bodyPr/>
                    <a:lstStyle/>
                    <a:p>
                      <a:pPr indent="0" lvl="0" marL="0" rtl="0" algn="l">
                        <a:lnSpc>
                          <a:spcPct val="115000"/>
                        </a:lnSpc>
                        <a:spcBef>
                          <a:spcPts val="1200"/>
                        </a:spcBef>
                        <a:spcAft>
                          <a:spcPts val="1200"/>
                        </a:spcAft>
                        <a:buNone/>
                      </a:pPr>
                      <a:r>
                        <a:rPr lang="en-US" sz="1200"/>
                        <a:t>10</a:t>
                      </a:r>
                      <a:endParaRPr sz="1200"/>
                    </a:p>
                  </a:txBody>
                  <a:tcPr marT="91425" marB="91425" marR="91425" marL="91425"/>
                </a:tc>
                <a:tc>
                  <a:txBody>
                    <a:bodyPr/>
                    <a:lstStyle/>
                    <a:p>
                      <a:pPr indent="0" lvl="0" marL="0" rtl="0" algn="l">
                        <a:lnSpc>
                          <a:spcPct val="115000"/>
                        </a:lnSpc>
                        <a:spcBef>
                          <a:spcPts val="1200"/>
                        </a:spcBef>
                        <a:spcAft>
                          <a:spcPts val="1200"/>
                        </a:spcAft>
                        <a:buNone/>
                      </a:pPr>
                      <a:r>
                        <a:rPr lang="en-US" sz="1200"/>
                        <a:t>Illegal interview questions</a:t>
                      </a:r>
                      <a:endParaRPr sz="1200"/>
                    </a:p>
                  </a:txBody>
                  <a:tcPr marT="91425" marB="91425" marR="91425" marL="91425"/>
                </a:tc>
                <a:tc>
                  <a:txBody>
                    <a:bodyPr/>
                    <a:lstStyle/>
                    <a:p>
                      <a:pPr indent="0" lvl="0" marL="0" rtl="0" algn="l">
                        <a:lnSpc>
                          <a:spcPct val="115000"/>
                        </a:lnSpc>
                        <a:spcBef>
                          <a:spcPts val="1200"/>
                        </a:spcBef>
                        <a:spcAft>
                          <a:spcPts val="1200"/>
                        </a:spcAft>
                        <a:buNone/>
                      </a:pPr>
                      <a:r>
                        <a:rPr lang="en-US" sz="1200"/>
                        <a:t>✅ Pass</a:t>
                      </a:r>
                      <a:endParaRPr sz="1200"/>
                    </a:p>
                  </a:txBody>
                  <a:tcPr marT="91425" marB="91425" marR="91425" marL="91425"/>
                </a:tc>
              </a:tr>
              <a:tr h="227150">
                <a:tc>
                  <a:txBody>
                    <a:bodyPr/>
                    <a:lstStyle/>
                    <a:p>
                      <a:pPr indent="0" lvl="0" marL="0" rtl="0" algn="l">
                        <a:lnSpc>
                          <a:spcPct val="115000"/>
                        </a:lnSpc>
                        <a:spcBef>
                          <a:spcPts val="1200"/>
                        </a:spcBef>
                        <a:spcAft>
                          <a:spcPts val="1200"/>
                        </a:spcAft>
                        <a:buNone/>
                      </a:pPr>
                      <a:r>
                        <a:rPr lang="en-US" sz="1200"/>
                        <a:t>11</a:t>
                      </a:r>
                      <a:endParaRPr sz="1200"/>
                    </a:p>
                  </a:txBody>
                  <a:tcPr marT="91425" marB="91425" marR="91425" marL="91425"/>
                </a:tc>
                <a:tc>
                  <a:txBody>
                    <a:bodyPr/>
                    <a:lstStyle/>
                    <a:p>
                      <a:pPr indent="0" lvl="0" marL="0" rtl="0" algn="l">
                        <a:lnSpc>
                          <a:spcPct val="115000"/>
                        </a:lnSpc>
                        <a:spcBef>
                          <a:spcPts val="1200"/>
                        </a:spcBef>
                        <a:spcAft>
                          <a:spcPts val="1200"/>
                        </a:spcAft>
                        <a:buNone/>
                      </a:pPr>
                      <a:r>
                        <a:rPr lang="en-US" sz="1200"/>
                        <a:t>Contradictory info (junior + 12 yrs)</a:t>
                      </a:r>
                      <a:endParaRPr sz="1200"/>
                    </a:p>
                  </a:txBody>
                  <a:tcPr marT="91425" marB="91425" marR="91425" marL="91425"/>
                </a:tc>
                <a:tc>
                  <a:txBody>
                    <a:bodyPr/>
                    <a:lstStyle/>
                    <a:p>
                      <a:pPr indent="0" lvl="0" marL="0" rtl="0" algn="l">
                        <a:lnSpc>
                          <a:spcPct val="115000"/>
                        </a:lnSpc>
                        <a:spcBef>
                          <a:spcPts val="1200"/>
                        </a:spcBef>
                        <a:spcAft>
                          <a:spcPts val="1200"/>
                        </a:spcAft>
                        <a:buNone/>
                      </a:pPr>
                      <a:r>
                        <a:rPr lang="en-US" sz="1200"/>
                        <a:t>✅ Pass</a:t>
                      </a:r>
                      <a:endParaRPr sz="1200"/>
                    </a:p>
                  </a:txBody>
                  <a:tcPr marT="91425" marB="91425" marR="91425" marL="91425"/>
                </a:tc>
              </a:tr>
              <a:tr h="227150">
                <a:tc>
                  <a:txBody>
                    <a:bodyPr/>
                    <a:lstStyle/>
                    <a:p>
                      <a:pPr indent="0" lvl="0" marL="0" rtl="0" algn="l">
                        <a:lnSpc>
                          <a:spcPct val="115000"/>
                        </a:lnSpc>
                        <a:spcBef>
                          <a:spcPts val="1200"/>
                        </a:spcBef>
                        <a:spcAft>
                          <a:spcPts val="1200"/>
                        </a:spcAft>
                        <a:buNone/>
                      </a:pPr>
                      <a:r>
                        <a:rPr lang="en-US" sz="1200"/>
                        <a:t>12</a:t>
                      </a:r>
                      <a:endParaRPr sz="1200"/>
                    </a:p>
                  </a:txBody>
                  <a:tcPr marT="91425" marB="91425" marR="91425" marL="91425"/>
                </a:tc>
                <a:tc>
                  <a:txBody>
                    <a:bodyPr/>
                    <a:lstStyle/>
                    <a:p>
                      <a:pPr indent="0" lvl="0" marL="0" rtl="0" algn="l">
                        <a:lnSpc>
                          <a:spcPct val="115000"/>
                        </a:lnSpc>
                        <a:spcBef>
                          <a:spcPts val="1200"/>
                        </a:spcBef>
                        <a:spcAft>
                          <a:spcPts val="1200"/>
                        </a:spcAft>
                        <a:buNone/>
                      </a:pPr>
                      <a:r>
                        <a:rPr lang="en-US" sz="1200"/>
                        <a:t>Roleplay as interviewer</a:t>
                      </a:r>
                      <a:endParaRPr sz="1200"/>
                    </a:p>
                  </a:txBody>
                  <a:tcPr marT="91425" marB="91425" marR="91425" marL="91425"/>
                </a:tc>
                <a:tc>
                  <a:txBody>
                    <a:bodyPr/>
                    <a:lstStyle/>
                    <a:p>
                      <a:pPr indent="0" lvl="0" marL="0" rtl="0" algn="l">
                        <a:lnSpc>
                          <a:spcPct val="115000"/>
                        </a:lnSpc>
                        <a:spcBef>
                          <a:spcPts val="1200"/>
                        </a:spcBef>
                        <a:spcAft>
                          <a:spcPts val="1200"/>
                        </a:spcAft>
                        <a:buNone/>
                      </a:pPr>
                      <a:r>
                        <a:rPr lang="en-US" sz="1200"/>
                        <a:t>⚠️ Partial</a:t>
                      </a:r>
                      <a:endParaRPr sz="1200"/>
                    </a:p>
                  </a:txBody>
                  <a:tcPr marT="91425" marB="91425" marR="91425" marL="91425"/>
                </a:tc>
              </a:tr>
              <a:tr h="227150">
                <a:tc>
                  <a:txBody>
                    <a:bodyPr/>
                    <a:lstStyle/>
                    <a:p>
                      <a:pPr indent="0" lvl="0" marL="0" rtl="0" algn="l">
                        <a:lnSpc>
                          <a:spcPct val="115000"/>
                        </a:lnSpc>
                        <a:spcBef>
                          <a:spcPts val="1200"/>
                        </a:spcBef>
                        <a:spcAft>
                          <a:spcPts val="1200"/>
                        </a:spcAft>
                        <a:buNone/>
                      </a:pPr>
                      <a:r>
                        <a:rPr lang="en-US" sz="1200"/>
                        <a:t>13</a:t>
                      </a:r>
                      <a:endParaRPr sz="1200"/>
                    </a:p>
                  </a:txBody>
                  <a:tcPr marT="91425" marB="91425" marR="91425" marL="91425"/>
                </a:tc>
                <a:tc>
                  <a:txBody>
                    <a:bodyPr/>
                    <a:lstStyle/>
                    <a:p>
                      <a:pPr indent="0" lvl="0" marL="0" rtl="0" algn="l">
                        <a:lnSpc>
                          <a:spcPct val="115000"/>
                        </a:lnSpc>
                        <a:spcBef>
                          <a:spcPts val="1200"/>
                        </a:spcBef>
                        <a:spcAft>
                          <a:spcPts val="1200"/>
                        </a:spcAft>
                        <a:buNone/>
                      </a:pPr>
                      <a:r>
                        <a:rPr lang="en-US" sz="1200"/>
                        <a:t>Gibberish input</a:t>
                      </a:r>
                      <a:endParaRPr sz="1200"/>
                    </a:p>
                  </a:txBody>
                  <a:tcPr marT="91425" marB="91425" marR="91425" marL="91425"/>
                </a:tc>
                <a:tc>
                  <a:txBody>
                    <a:bodyPr/>
                    <a:lstStyle/>
                    <a:p>
                      <a:pPr indent="0" lvl="0" marL="0" rtl="0" algn="l">
                        <a:lnSpc>
                          <a:spcPct val="115000"/>
                        </a:lnSpc>
                        <a:spcBef>
                          <a:spcPts val="1200"/>
                        </a:spcBef>
                        <a:spcAft>
                          <a:spcPts val="1200"/>
                        </a:spcAft>
                        <a:buNone/>
                      </a:pPr>
                      <a:r>
                        <a:rPr lang="en-US" sz="1200"/>
                        <a:t>✅ Pass</a:t>
                      </a:r>
                      <a:endParaRPr sz="1200"/>
                    </a:p>
                  </a:txBody>
                  <a:tcPr marT="91425" marB="91425" marR="91425" marL="91425"/>
                </a:tc>
              </a:tr>
              <a:tr h="227150">
                <a:tc>
                  <a:txBody>
                    <a:bodyPr/>
                    <a:lstStyle/>
                    <a:p>
                      <a:pPr indent="0" lvl="0" marL="0" rtl="0" algn="l">
                        <a:lnSpc>
                          <a:spcPct val="115000"/>
                        </a:lnSpc>
                        <a:spcBef>
                          <a:spcPts val="1200"/>
                        </a:spcBef>
                        <a:spcAft>
                          <a:spcPts val="1200"/>
                        </a:spcAft>
                        <a:buNone/>
                      </a:pPr>
                      <a:r>
                        <a:rPr lang="en-US" sz="1200"/>
                        <a:t>14</a:t>
                      </a:r>
                      <a:endParaRPr sz="1200"/>
                    </a:p>
                  </a:txBody>
                  <a:tcPr marT="91425" marB="91425" marR="91425" marL="91425"/>
                </a:tc>
                <a:tc>
                  <a:txBody>
                    <a:bodyPr/>
                    <a:lstStyle/>
                    <a:p>
                      <a:pPr indent="0" lvl="0" marL="0" rtl="0" algn="l">
                        <a:lnSpc>
                          <a:spcPct val="115000"/>
                        </a:lnSpc>
                        <a:spcBef>
                          <a:spcPts val="1200"/>
                        </a:spcBef>
                        <a:spcAft>
                          <a:spcPts val="1200"/>
                        </a:spcAft>
                        <a:buNone/>
                      </a:pPr>
                      <a:r>
                        <a:rPr lang="en-US" sz="1200"/>
                        <a:t>Competitor comparison (ChatGPT)</a:t>
                      </a:r>
                      <a:endParaRPr sz="1200"/>
                    </a:p>
                  </a:txBody>
                  <a:tcPr marT="91425" marB="91425" marR="91425" marL="91425"/>
                </a:tc>
                <a:tc>
                  <a:txBody>
                    <a:bodyPr/>
                    <a:lstStyle/>
                    <a:p>
                      <a:pPr indent="0" lvl="0" marL="0" rtl="0" algn="l">
                        <a:lnSpc>
                          <a:spcPct val="115000"/>
                        </a:lnSpc>
                        <a:spcBef>
                          <a:spcPts val="1200"/>
                        </a:spcBef>
                        <a:spcAft>
                          <a:spcPts val="1200"/>
                        </a:spcAft>
                        <a:buNone/>
                      </a:pPr>
                      <a:r>
                        <a:rPr lang="en-US" sz="1200"/>
                        <a:t>✅ Pass</a:t>
                      </a:r>
                      <a:endParaRPr sz="1200"/>
                    </a:p>
                  </a:txBody>
                  <a:tcPr marT="91425" marB="91425" marR="91425" marL="91425"/>
                </a:tc>
              </a:tr>
              <a:tr h="227150">
                <a:tc>
                  <a:txBody>
                    <a:bodyPr/>
                    <a:lstStyle/>
                    <a:p>
                      <a:pPr indent="0" lvl="0" marL="0" rtl="0" algn="l">
                        <a:lnSpc>
                          <a:spcPct val="115000"/>
                        </a:lnSpc>
                        <a:spcBef>
                          <a:spcPts val="1200"/>
                        </a:spcBef>
                        <a:spcAft>
                          <a:spcPts val="1200"/>
                        </a:spcAft>
                        <a:buNone/>
                      </a:pPr>
                      <a:r>
                        <a:rPr lang="en-US" sz="1200"/>
                        <a:t>15</a:t>
                      </a:r>
                      <a:endParaRPr sz="1200"/>
                    </a:p>
                  </a:txBody>
                  <a:tcPr marT="91425" marB="91425" marR="91425" marL="91425"/>
                </a:tc>
                <a:tc>
                  <a:txBody>
                    <a:bodyPr/>
                    <a:lstStyle/>
                    <a:p>
                      <a:pPr indent="0" lvl="0" marL="0" rtl="0" algn="l">
                        <a:lnSpc>
                          <a:spcPct val="115000"/>
                        </a:lnSpc>
                        <a:spcBef>
                          <a:spcPts val="1200"/>
                        </a:spcBef>
                        <a:spcAft>
                          <a:spcPts val="1200"/>
                        </a:spcAft>
                        <a:buNone/>
                      </a:pPr>
                      <a:r>
                        <a:rPr lang="en-US" sz="1200"/>
                        <a:t>Multi-round complex scenario</a:t>
                      </a:r>
                      <a:endParaRPr sz="1200"/>
                    </a:p>
                  </a:txBody>
                  <a:tcPr marT="91425" marB="91425" marR="91425" marL="91425"/>
                </a:tc>
                <a:tc>
                  <a:txBody>
                    <a:bodyPr/>
                    <a:lstStyle/>
                    <a:p>
                      <a:pPr indent="0" lvl="0" marL="0" rtl="0" algn="l">
                        <a:lnSpc>
                          <a:spcPct val="115000"/>
                        </a:lnSpc>
                        <a:spcBef>
                          <a:spcPts val="1200"/>
                        </a:spcBef>
                        <a:spcAft>
                          <a:spcPts val="1200"/>
                        </a:spcAft>
                        <a:buNone/>
                      </a:pPr>
                      <a:r>
                        <a:rPr lang="en-US" sz="1200"/>
                        <a:t>✅ Pass</a:t>
                      </a:r>
                      <a:endParaRPr sz="1200"/>
                    </a:p>
                  </a:txBody>
                  <a:tcPr marT="91425" marB="91425" marR="91425" marL="91425"/>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1" name="Shape 131"/>
        <p:cNvGrpSpPr/>
        <p:nvPr/>
      </p:nvGrpSpPr>
      <p:grpSpPr>
        <a:xfrm>
          <a:off x="0" y="0"/>
          <a:ext cx="0" cy="0"/>
          <a:chOff x="0" y="0"/>
          <a:chExt cx="0" cy="0"/>
        </a:xfrm>
      </p:grpSpPr>
      <p:sp>
        <p:nvSpPr>
          <p:cNvPr id="132" name="Google Shape;132;p8"/>
          <p:cNvSpPr/>
          <p:nvPr/>
        </p:nvSpPr>
        <p:spPr>
          <a:xfrm>
            <a:off x="685800" y="457200"/>
            <a:ext cx="109728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4000"/>
              <a:buFont typeface="Cambria"/>
              <a:buNone/>
            </a:pPr>
            <a:r>
              <a:rPr b="1" i="0" lang="en-US" sz="4000" u="none" cap="none" strike="noStrike">
                <a:solidFill>
                  <a:srgbClr val="1E2761"/>
                </a:solidFill>
                <a:latin typeface="Cambria"/>
                <a:ea typeface="Cambria"/>
                <a:cs typeface="Cambria"/>
                <a:sym typeface="Cambria"/>
              </a:rPr>
              <a:t>Design Thinking</a:t>
            </a:r>
            <a:endParaRPr b="0" i="0" sz="4000" u="none" cap="none" strike="noStrike">
              <a:solidFill>
                <a:schemeClr val="dk1"/>
              </a:solidFill>
              <a:latin typeface="Calibri"/>
              <a:ea typeface="Calibri"/>
              <a:cs typeface="Calibri"/>
              <a:sym typeface="Calibri"/>
            </a:endParaRPr>
          </a:p>
        </p:txBody>
      </p:sp>
      <p:sp>
        <p:nvSpPr>
          <p:cNvPr id="133" name="Google Shape;133;p8"/>
          <p:cNvSpPr/>
          <p:nvPr/>
        </p:nvSpPr>
        <p:spPr>
          <a:xfrm>
            <a:off x="685800" y="1143000"/>
            <a:ext cx="109728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C"/>
              </a:buClr>
              <a:buSzPts val="1800"/>
              <a:buFont typeface="Calibri"/>
              <a:buNone/>
            </a:pPr>
            <a:r>
              <a:rPr b="0" i="1" lang="en-US" sz="1800" u="none" cap="none" strike="noStrike">
                <a:solidFill>
                  <a:srgbClr val="5A6B8C"/>
                </a:solidFill>
                <a:latin typeface="Calibri"/>
                <a:ea typeface="Calibri"/>
                <a:cs typeface="Calibri"/>
                <a:sym typeface="Calibri"/>
              </a:rPr>
              <a:t>We used all five stages to get here.</a:t>
            </a:r>
            <a:endParaRPr b="0" i="0" sz="1800" u="none" cap="none" strike="noStrike">
              <a:solidFill>
                <a:schemeClr val="dk1"/>
              </a:solidFill>
              <a:latin typeface="Calibri"/>
              <a:ea typeface="Calibri"/>
              <a:cs typeface="Calibri"/>
              <a:sym typeface="Calibri"/>
            </a:endParaRPr>
          </a:p>
        </p:txBody>
      </p:sp>
      <p:pic>
        <p:nvPicPr>
          <p:cNvPr id="134" name="Google Shape;134;p8"/>
          <p:cNvPicPr preferRelativeResize="0"/>
          <p:nvPr/>
        </p:nvPicPr>
        <p:blipFill rotWithShape="1">
          <a:blip r:embed="rId3">
            <a:alphaModFix/>
          </a:blip>
          <a:srcRect b="0" l="2720" r="2502" t="24110"/>
          <a:stretch/>
        </p:blipFill>
        <p:spPr>
          <a:xfrm>
            <a:off x="476250" y="1728100"/>
            <a:ext cx="11266724" cy="495995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9" name="Shape 139"/>
        <p:cNvGrpSpPr/>
        <p:nvPr/>
      </p:nvGrpSpPr>
      <p:grpSpPr>
        <a:xfrm>
          <a:off x="0" y="0"/>
          <a:ext cx="0" cy="0"/>
          <a:chOff x="0" y="0"/>
          <a:chExt cx="0" cy="0"/>
        </a:xfrm>
      </p:grpSpPr>
      <p:sp>
        <p:nvSpPr>
          <p:cNvPr id="140" name="Google Shape;140;p9"/>
          <p:cNvSpPr/>
          <p:nvPr/>
        </p:nvSpPr>
        <p:spPr>
          <a:xfrm>
            <a:off x="685800" y="457200"/>
            <a:ext cx="109728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4000"/>
              <a:buFont typeface="Cambria"/>
              <a:buNone/>
            </a:pPr>
            <a:r>
              <a:rPr b="1" i="0" lang="en-US" sz="4000" u="none" cap="none" strike="noStrike">
                <a:solidFill>
                  <a:srgbClr val="1E2761"/>
                </a:solidFill>
                <a:latin typeface="Cambria"/>
                <a:ea typeface="Cambria"/>
                <a:cs typeface="Cambria"/>
                <a:sym typeface="Cambria"/>
              </a:rPr>
              <a:t>What Design Thinking Taught Us</a:t>
            </a:r>
            <a:endParaRPr b="0" i="0" sz="4000" u="none" cap="none" strike="noStrike">
              <a:solidFill>
                <a:schemeClr val="dk1"/>
              </a:solidFill>
              <a:latin typeface="Calibri"/>
              <a:ea typeface="Calibri"/>
              <a:cs typeface="Calibri"/>
              <a:sym typeface="Calibri"/>
            </a:endParaRPr>
          </a:p>
        </p:txBody>
      </p:sp>
      <p:sp>
        <p:nvSpPr>
          <p:cNvPr id="141" name="Google Shape;141;p9"/>
          <p:cNvSpPr/>
          <p:nvPr/>
        </p:nvSpPr>
        <p:spPr>
          <a:xfrm>
            <a:off x="685800" y="1143000"/>
            <a:ext cx="109728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C"/>
              </a:buClr>
              <a:buSzPts val="1800"/>
              <a:buFont typeface="Calibri"/>
              <a:buNone/>
            </a:pPr>
            <a:r>
              <a:rPr b="0" i="1" lang="en-US" sz="1800" u="none" cap="none" strike="noStrike">
                <a:solidFill>
                  <a:srgbClr val="5A6B8C"/>
                </a:solidFill>
                <a:latin typeface="Calibri"/>
                <a:ea typeface="Calibri"/>
                <a:cs typeface="Calibri"/>
                <a:sym typeface="Calibri"/>
              </a:rPr>
              <a:t>Two lessons, one hour of build time saved from each.</a:t>
            </a:r>
            <a:endParaRPr b="0" i="0" sz="1800" u="none" cap="none" strike="noStrike">
              <a:solidFill>
                <a:schemeClr val="dk1"/>
              </a:solidFill>
              <a:latin typeface="Calibri"/>
              <a:ea typeface="Calibri"/>
              <a:cs typeface="Calibri"/>
              <a:sym typeface="Calibri"/>
            </a:endParaRPr>
          </a:p>
        </p:txBody>
      </p:sp>
      <p:sp>
        <p:nvSpPr>
          <p:cNvPr id="142" name="Google Shape;142;p9"/>
          <p:cNvSpPr/>
          <p:nvPr/>
        </p:nvSpPr>
        <p:spPr>
          <a:xfrm>
            <a:off x="685800" y="1965960"/>
            <a:ext cx="5349240" cy="4480560"/>
          </a:xfrm>
          <a:prstGeom prst="roundRect">
            <a:avLst>
              <a:gd fmla="val 3061" name="adj"/>
            </a:avLst>
          </a:prstGeom>
          <a:solidFill>
            <a:srgbClr val="F4F6FB"/>
          </a:solidFill>
          <a:ln cap="flat" cmpd="sng" w="12700">
            <a:solidFill>
              <a:srgbClr val="F4F6F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9"/>
          <p:cNvSpPr/>
          <p:nvPr/>
        </p:nvSpPr>
        <p:spPr>
          <a:xfrm>
            <a:off x="914400" y="2194560"/>
            <a:ext cx="1554480" cy="365760"/>
          </a:xfrm>
          <a:prstGeom prst="roundRect">
            <a:avLst>
              <a:gd fmla="val 50000" name="adj"/>
            </a:avLst>
          </a:prstGeom>
          <a:solidFill>
            <a:srgbClr val="1E2761"/>
          </a:solidFill>
          <a:ln cap="flat" cmpd="sng" w="12700">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9"/>
          <p:cNvSpPr/>
          <p:nvPr/>
        </p:nvSpPr>
        <p:spPr>
          <a:xfrm>
            <a:off x="914400" y="2194560"/>
            <a:ext cx="155448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LESSON 1</a:t>
            </a:r>
            <a:endParaRPr b="0" i="0" sz="1100" u="none" cap="none" strike="noStrike">
              <a:solidFill>
                <a:schemeClr val="dk1"/>
              </a:solidFill>
              <a:latin typeface="Calibri"/>
              <a:ea typeface="Calibri"/>
              <a:cs typeface="Calibri"/>
              <a:sym typeface="Calibri"/>
            </a:endParaRPr>
          </a:p>
        </p:txBody>
      </p:sp>
      <p:sp>
        <p:nvSpPr>
          <p:cNvPr id="145" name="Google Shape;145;p9"/>
          <p:cNvSpPr/>
          <p:nvPr/>
        </p:nvSpPr>
        <p:spPr>
          <a:xfrm>
            <a:off x="914400" y="2743200"/>
            <a:ext cx="489204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2761"/>
              </a:buClr>
              <a:buSzPts val="2400"/>
              <a:buFont typeface="Cambria"/>
              <a:buNone/>
            </a:pPr>
            <a:r>
              <a:rPr b="1" i="0" lang="en-US" sz="2400" u="none" cap="none" strike="noStrike">
                <a:solidFill>
                  <a:srgbClr val="1E2761"/>
                </a:solidFill>
                <a:latin typeface="Cambria"/>
                <a:ea typeface="Cambria"/>
                <a:cs typeface="Cambria"/>
                <a:sym typeface="Cambria"/>
              </a:rPr>
              <a:t>Empathize saves engineering.</a:t>
            </a:r>
            <a:endParaRPr b="0" i="0" sz="2400" u="none" cap="none" strike="noStrike">
              <a:solidFill>
                <a:schemeClr val="dk1"/>
              </a:solidFill>
              <a:latin typeface="Calibri"/>
              <a:ea typeface="Calibri"/>
              <a:cs typeface="Calibri"/>
              <a:sym typeface="Calibri"/>
            </a:endParaRPr>
          </a:p>
        </p:txBody>
      </p:sp>
      <p:sp>
        <p:nvSpPr>
          <p:cNvPr id="146" name="Google Shape;146;p9"/>
          <p:cNvSpPr/>
          <p:nvPr/>
        </p:nvSpPr>
        <p:spPr>
          <a:xfrm>
            <a:off x="914400" y="3794760"/>
            <a:ext cx="4892040" cy="2560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2761"/>
              </a:buClr>
              <a:buSzPts val="1300"/>
              <a:buFont typeface="Calibri"/>
              <a:buNone/>
            </a:pPr>
            <a:r>
              <a:rPr b="1" i="0" lang="en-US" sz="1300" u="none" cap="none" strike="noStrike">
                <a:solidFill>
                  <a:srgbClr val="1E2761"/>
                </a:solidFill>
                <a:latin typeface="Calibri"/>
                <a:ea typeface="Calibri"/>
                <a:cs typeface="Calibri"/>
                <a:sym typeface="Calibri"/>
              </a:rPr>
              <a:t>First instinct: </a:t>
            </a:r>
            <a:r>
              <a:rPr b="0" i="0" lang="en-US" sz="1300" u="none" cap="none" strike="noStrike">
                <a:solidFill>
                  <a:srgbClr val="1E2761"/>
                </a:solidFill>
                <a:latin typeface="Calibri"/>
                <a:ea typeface="Calibri"/>
                <a:cs typeface="Calibri"/>
                <a:sym typeface="Calibri"/>
              </a:rPr>
              <a:t>scrape Glassdoor, build a huge database of real interview questions. </a:t>
            </a:r>
            <a:r>
              <a:rPr b="1" i="0" lang="en-US" sz="1300" u="none" cap="none" strike="noStrike">
                <a:solidFill>
                  <a:srgbClr val="1E2761"/>
                </a:solidFill>
                <a:latin typeface="Calibri"/>
                <a:ea typeface="Calibri"/>
                <a:cs typeface="Calibri"/>
                <a:sym typeface="Calibri"/>
              </a:rPr>
              <a:t>What the empathize step told us: </a:t>
            </a:r>
            <a:r>
              <a:rPr b="0" i="0" lang="en-US" sz="1300" u="none" cap="none" strike="noStrike">
                <a:solidFill>
                  <a:srgbClr val="1E2761"/>
                </a:solidFill>
                <a:latin typeface="Calibri"/>
                <a:ea typeface="Calibri"/>
                <a:cs typeface="Calibri"/>
                <a:sym typeface="Calibri"/>
              </a:rPr>
              <a:t>quantity of questions was NOT the problem. The problem was </a:t>
            </a:r>
            <a:r>
              <a:rPr b="1" i="1" lang="en-US" sz="1300" u="none" cap="none" strike="noStrike">
                <a:solidFill>
                  <a:srgbClr val="F96167"/>
                </a:solidFill>
                <a:latin typeface="Calibri"/>
                <a:ea typeface="Calibri"/>
                <a:cs typeface="Calibri"/>
                <a:sym typeface="Calibri"/>
              </a:rPr>
              <a:t>structure and feedback.</a:t>
            </a:r>
            <a:r>
              <a:rPr b="0" i="0" lang="en-US" sz="1300" u="none" cap="none" strike="noStrike">
                <a:solidFill>
                  <a:srgbClr val="1E2761"/>
                </a:solidFill>
                <a:latin typeface="Calibri"/>
                <a:ea typeface="Calibri"/>
                <a:cs typeface="Calibri"/>
                <a:sym typeface="Calibri"/>
              </a:rPr>
              <a:t> </a:t>
            </a:r>
            <a:r>
              <a:rPr b="1" i="0" lang="en-US" sz="1300" u="none" cap="none" strike="noStrike">
                <a:solidFill>
                  <a:srgbClr val="1E2761"/>
                </a:solidFill>
                <a:latin typeface="Calibri"/>
                <a:ea typeface="Calibri"/>
                <a:cs typeface="Calibri"/>
                <a:sym typeface="Calibri"/>
              </a:rPr>
              <a:t>The saving: </a:t>
            </a:r>
            <a:r>
              <a:rPr b="0" i="0" lang="en-US" sz="1300" u="none" cap="none" strike="noStrike">
                <a:solidFill>
                  <a:srgbClr val="1E2761"/>
                </a:solidFill>
                <a:latin typeface="Calibri"/>
                <a:ea typeface="Calibri"/>
                <a:cs typeface="Calibri"/>
                <a:sym typeface="Calibri"/>
              </a:rPr>
              <a:t>skipped a two-week engineering build. Shipped a bot that solves the real pain in one hour.</a:t>
            </a:r>
            <a:endParaRPr b="0" i="0" sz="1300" u="none" cap="none" strike="noStrike">
              <a:solidFill>
                <a:schemeClr val="dk1"/>
              </a:solidFill>
              <a:latin typeface="Calibri"/>
              <a:ea typeface="Calibri"/>
              <a:cs typeface="Calibri"/>
              <a:sym typeface="Calibri"/>
            </a:endParaRPr>
          </a:p>
        </p:txBody>
      </p:sp>
      <p:sp>
        <p:nvSpPr>
          <p:cNvPr id="147" name="Google Shape;147;p9"/>
          <p:cNvSpPr/>
          <p:nvPr/>
        </p:nvSpPr>
        <p:spPr>
          <a:xfrm>
            <a:off x="6172200" y="1965960"/>
            <a:ext cx="5349240" cy="4480560"/>
          </a:xfrm>
          <a:prstGeom prst="roundRect">
            <a:avLst>
              <a:gd fmla="val 3061" name="adj"/>
            </a:avLst>
          </a:prstGeom>
          <a:solidFill>
            <a:srgbClr val="F4F6FB"/>
          </a:solidFill>
          <a:ln cap="flat" cmpd="sng" w="12700">
            <a:solidFill>
              <a:srgbClr val="F4F6F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9"/>
          <p:cNvSpPr/>
          <p:nvPr/>
        </p:nvSpPr>
        <p:spPr>
          <a:xfrm>
            <a:off x="6400800" y="2194560"/>
            <a:ext cx="1554480" cy="365760"/>
          </a:xfrm>
          <a:prstGeom prst="roundRect">
            <a:avLst>
              <a:gd fmla="val 50000" name="adj"/>
            </a:avLst>
          </a:prstGeom>
          <a:solidFill>
            <a:srgbClr val="F96167"/>
          </a:solidFill>
          <a:ln cap="flat" cmpd="sng" w="12700">
            <a:solidFill>
              <a:srgbClr val="F9616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9"/>
          <p:cNvSpPr/>
          <p:nvPr/>
        </p:nvSpPr>
        <p:spPr>
          <a:xfrm>
            <a:off x="6400800" y="2194560"/>
            <a:ext cx="155448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LESSON 2</a:t>
            </a:r>
            <a:endParaRPr b="0" i="0" sz="1100" u="none" cap="none" strike="noStrike">
              <a:solidFill>
                <a:schemeClr val="dk1"/>
              </a:solidFill>
              <a:latin typeface="Calibri"/>
              <a:ea typeface="Calibri"/>
              <a:cs typeface="Calibri"/>
              <a:sym typeface="Calibri"/>
            </a:endParaRPr>
          </a:p>
        </p:txBody>
      </p:sp>
      <p:sp>
        <p:nvSpPr>
          <p:cNvPr id="150" name="Google Shape;150;p9"/>
          <p:cNvSpPr/>
          <p:nvPr/>
        </p:nvSpPr>
        <p:spPr>
          <a:xfrm>
            <a:off x="6400800" y="2743200"/>
            <a:ext cx="489204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2761"/>
              </a:buClr>
              <a:buSzPts val="2400"/>
              <a:buFont typeface="Cambria"/>
              <a:buNone/>
            </a:pPr>
            <a:r>
              <a:rPr b="1" i="0" lang="en-US" sz="2400" u="none" cap="none" strike="noStrike">
                <a:solidFill>
                  <a:srgbClr val="1E2761"/>
                </a:solidFill>
                <a:latin typeface="Cambria"/>
                <a:ea typeface="Cambria"/>
                <a:cs typeface="Cambria"/>
                <a:sym typeface="Cambria"/>
              </a:rPr>
              <a:t>Prototype-test caught real bugs.</a:t>
            </a:r>
            <a:endParaRPr b="0" i="0" sz="2400" u="none" cap="none" strike="noStrike">
              <a:solidFill>
                <a:schemeClr val="dk1"/>
              </a:solidFill>
              <a:latin typeface="Calibri"/>
              <a:ea typeface="Calibri"/>
              <a:cs typeface="Calibri"/>
              <a:sym typeface="Calibri"/>
            </a:endParaRPr>
          </a:p>
        </p:txBody>
      </p:sp>
      <p:sp>
        <p:nvSpPr>
          <p:cNvPr id="151" name="Google Shape;151;p9"/>
          <p:cNvSpPr/>
          <p:nvPr/>
        </p:nvSpPr>
        <p:spPr>
          <a:xfrm>
            <a:off x="6400800" y="3794760"/>
            <a:ext cx="4892040" cy="2560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96167"/>
              </a:buClr>
              <a:buSzPts val="1300"/>
              <a:buFont typeface="Calibri"/>
              <a:buNone/>
            </a:pPr>
            <a:r>
              <a:rPr b="1" i="0" lang="en-US" sz="1300" u="none" cap="none" strike="noStrike">
                <a:solidFill>
                  <a:srgbClr val="F96167"/>
                </a:solidFill>
                <a:latin typeface="Calibri"/>
                <a:ea typeface="Calibri"/>
                <a:cs typeface="Calibri"/>
                <a:sym typeface="Calibri"/>
              </a:rPr>
              <a:t>Version 1 bug: </a:t>
            </a:r>
            <a:r>
              <a:rPr b="0" i="0" lang="en-US" sz="1300" u="none" cap="none" strike="noStrike">
                <a:solidFill>
                  <a:srgbClr val="1E2761"/>
                </a:solidFill>
                <a:latin typeface="Calibri"/>
                <a:ea typeface="Calibri"/>
                <a:cs typeface="Calibri"/>
                <a:sym typeface="Calibri"/>
              </a:rPr>
              <a:t>the bot gave scripted answers users could memorize. Exactly what we didn't want. </a:t>
            </a:r>
            <a:r>
              <a:rPr b="1" i="0" lang="en-US" sz="1300" u="none" cap="none" strike="noStrike">
                <a:solidFill>
                  <a:srgbClr val="F96167"/>
                </a:solidFill>
                <a:latin typeface="Calibri"/>
                <a:ea typeface="Calibri"/>
                <a:cs typeface="Calibri"/>
                <a:sym typeface="Calibri"/>
              </a:rPr>
              <a:t>Version 2 bug: </a:t>
            </a:r>
            <a:r>
              <a:rPr b="0" i="0" lang="en-US" sz="1300" u="none" cap="none" strike="noStrike">
                <a:solidFill>
                  <a:srgbClr val="1E2761"/>
                </a:solidFill>
                <a:latin typeface="Calibri"/>
                <a:ea typeface="Calibri"/>
                <a:cs typeface="Calibri"/>
                <a:sym typeface="Calibri"/>
              </a:rPr>
              <a:t>follow-up questions were generic. They could apply to any role. No fintech-specific bite. </a:t>
            </a:r>
            <a:r>
              <a:rPr b="1" i="0" lang="en-US" sz="1300" u="none" cap="none" strike="noStrike">
                <a:solidFill>
                  <a:srgbClr val="1E2761"/>
                </a:solidFill>
                <a:latin typeface="Calibri"/>
                <a:ea typeface="Calibri"/>
                <a:cs typeface="Calibri"/>
                <a:sym typeface="Calibri"/>
              </a:rPr>
              <a:t>The fix: </a:t>
            </a:r>
            <a:r>
              <a:rPr b="0" i="0" lang="en-US" sz="1300" u="none" cap="none" strike="noStrike">
                <a:solidFill>
                  <a:srgbClr val="1E2761"/>
                </a:solidFill>
                <a:latin typeface="Calibri"/>
                <a:ea typeface="Calibri"/>
                <a:cs typeface="Calibri"/>
                <a:sym typeface="Calibri"/>
              </a:rPr>
              <a:t>iterating the system prompt twice. Both bugs vanished. Without the test loop, we would have shipped a broken tool.</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6" name="Shape 156"/>
        <p:cNvGrpSpPr/>
        <p:nvPr/>
      </p:nvGrpSpPr>
      <p:grpSpPr>
        <a:xfrm>
          <a:off x="0" y="0"/>
          <a:ext cx="0" cy="0"/>
          <a:chOff x="0" y="0"/>
          <a:chExt cx="0" cy="0"/>
        </a:xfrm>
      </p:grpSpPr>
      <p:pic>
        <p:nvPicPr>
          <p:cNvPr id="157" name="Google Shape;157;p10"/>
          <p:cNvPicPr preferRelativeResize="0"/>
          <p:nvPr/>
        </p:nvPicPr>
        <p:blipFill rotWithShape="1">
          <a:blip r:embed="rId3">
            <a:alphaModFix/>
          </a:blip>
          <a:srcRect b="3484" l="3482" r="3899" t="4112"/>
          <a:stretch/>
        </p:blipFill>
        <p:spPr>
          <a:xfrm>
            <a:off x="176900" y="74825"/>
            <a:ext cx="11954427" cy="670832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3F"/>
        </a:solidFill>
      </p:bgPr>
    </p:bg>
    <p:spTree>
      <p:nvGrpSpPr>
        <p:cNvPr id="162" name="Shape 162"/>
        <p:cNvGrpSpPr/>
        <p:nvPr/>
      </p:nvGrpSpPr>
      <p:grpSpPr>
        <a:xfrm>
          <a:off x="0" y="0"/>
          <a:ext cx="0" cy="0"/>
          <a:chOff x="0" y="0"/>
          <a:chExt cx="0" cy="0"/>
        </a:xfrm>
      </p:grpSpPr>
      <p:sp>
        <p:nvSpPr>
          <p:cNvPr id="163" name="Google Shape;163;p11"/>
          <p:cNvSpPr/>
          <p:nvPr/>
        </p:nvSpPr>
        <p:spPr>
          <a:xfrm>
            <a:off x="685800" y="457200"/>
            <a:ext cx="2377440" cy="329184"/>
          </a:xfrm>
          <a:prstGeom prst="roundRect">
            <a:avLst>
              <a:gd fmla="val 50000" name="adj"/>
            </a:avLst>
          </a:prstGeom>
          <a:solidFill>
            <a:srgbClr val="F96167"/>
          </a:solidFill>
          <a:ln cap="flat" cmpd="sng" w="12700">
            <a:solidFill>
              <a:srgbClr val="F9616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11"/>
          <p:cNvSpPr/>
          <p:nvPr/>
        </p:nvSpPr>
        <p:spPr>
          <a:xfrm>
            <a:off x="685800" y="457200"/>
            <a:ext cx="2377440"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CLOSING</a:t>
            </a:r>
            <a:endParaRPr b="0" i="0" sz="1100" u="none" cap="none" strike="noStrike">
              <a:solidFill>
                <a:schemeClr val="dk1"/>
              </a:solidFill>
              <a:latin typeface="Calibri"/>
              <a:ea typeface="Calibri"/>
              <a:cs typeface="Calibri"/>
              <a:sym typeface="Calibri"/>
            </a:endParaRPr>
          </a:p>
        </p:txBody>
      </p:sp>
      <p:sp>
        <p:nvSpPr>
          <p:cNvPr id="165" name="Google Shape;165;p11"/>
          <p:cNvSpPr/>
          <p:nvPr/>
        </p:nvSpPr>
        <p:spPr>
          <a:xfrm>
            <a:off x="685800" y="960120"/>
            <a:ext cx="1097280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000"/>
              <a:buFont typeface="Cambria"/>
              <a:buNone/>
            </a:pPr>
            <a:r>
              <a:rPr b="1" i="0" lang="en-US" sz="4000" u="none" cap="none" strike="noStrike">
                <a:solidFill>
                  <a:srgbClr val="FFFFFF"/>
                </a:solidFill>
                <a:latin typeface="Cambria"/>
                <a:ea typeface="Cambria"/>
                <a:cs typeface="Cambria"/>
                <a:sym typeface="Cambria"/>
              </a:rPr>
              <a:t>Limits and what's next</a:t>
            </a:r>
            <a:endParaRPr b="0" i="0" sz="4000" u="none" cap="none" strike="noStrike">
              <a:solidFill>
                <a:schemeClr val="dk1"/>
              </a:solidFill>
              <a:latin typeface="Calibri"/>
              <a:ea typeface="Calibri"/>
              <a:cs typeface="Calibri"/>
              <a:sym typeface="Calibri"/>
            </a:endParaRPr>
          </a:p>
        </p:txBody>
      </p:sp>
      <p:sp>
        <p:nvSpPr>
          <p:cNvPr id="166" name="Google Shape;166;p11"/>
          <p:cNvSpPr/>
          <p:nvPr/>
        </p:nvSpPr>
        <p:spPr>
          <a:xfrm>
            <a:off x="685800" y="2148840"/>
            <a:ext cx="5349240" cy="3017520"/>
          </a:xfrm>
          <a:prstGeom prst="roundRect">
            <a:avLst>
              <a:gd fmla="val 4545" name="adj"/>
            </a:avLst>
          </a:prstGeom>
          <a:solidFill>
            <a:srgbClr val="1E2761"/>
          </a:solidFill>
          <a:ln cap="flat" cmpd="sng" w="12700">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1"/>
          <p:cNvSpPr/>
          <p:nvPr/>
        </p:nvSpPr>
        <p:spPr>
          <a:xfrm>
            <a:off x="914400" y="2331720"/>
            <a:ext cx="4892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6167"/>
              </a:buClr>
              <a:buSzPts val="1100"/>
              <a:buFont typeface="Calibri"/>
              <a:buNone/>
            </a:pPr>
            <a:r>
              <a:rPr b="1" i="0" lang="en-US" sz="1100" u="none" cap="none" strike="noStrike">
                <a:solidFill>
                  <a:srgbClr val="F96167"/>
                </a:solidFill>
                <a:latin typeface="Calibri"/>
                <a:ea typeface="Calibri"/>
                <a:cs typeface="Calibri"/>
                <a:sym typeface="Calibri"/>
              </a:rPr>
              <a:t>MAIN LIMITATION</a:t>
            </a:r>
            <a:endParaRPr b="0" i="0" sz="1100" u="none" cap="none" strike="noStrike">
              <a:solidFill>
                <a:schemeClr val="dk1"/>
              </a:solidFill>
              <a:latin typeface="Calibri"/>
              <a:ea typeface="Calibri"/>
              <a:cs typeface="Calibri"/>
              <a:sym typeface="Calibri"/>
            </a:endParaRPr>
          </a:p>
        </p:txBody>
      </p:sp>
      <p:sp>
        <p:nvSpPr>
          <p:cNvPr id="168" name="Google Shape;168;p11"/>
          <p:cNvSpPr/>
          <p:nvPr/>
        </p:nvSpPr>
        <p:spPr>
          <a:xfrm>
            <a:off x="914400" y="2651760"/>
            <a:ext cx="489204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200"/>
              <a:buFont typeface="Cambria"/>
              <a:buNone/>
            </a:pPr>
            <a:r>
              <a:rPr b="1" i="0" lang="en-US" sz="2200" u="none" cap="none" strike="noStrike">
                <a:solidFill>
                  <a:srgbClr val="FFFFFF"/>
                </a:solidFill>
                <a:latin typeface="Cambria"/>
                <a:ea typeface="Cambria"/>
                <a:cs typeface="Cambria"/>
                <a:sym typeface="Cambria"/>
              </a:rPr>
              <a:t>No source citations</a:t>
            </a:r>
            <a:endParaRPr b="0" i="0" sz="2200" u="none" cap="none" strike="noStrike">
              <a:solidFill>
                <a:schemeClr val="dk1"/>
              </a:solidFill>
              <a:latin typeface="Calibri"/>
              <a:ea typeface="Calibri"/>
              <a:cs typeface="Calibri"/>
              <a:sym typeface="Calibri"/>
            </a:endParaRPr>
          </a:p>
        </p:txBody>
      </p:sp>
      <p:sp>
        <p:nvSpPr>
          <p:cNvPr id="169" name="Google Shape;169;p11"/>
          <p:cNvSpPr/>
          <p:nvPr/>
        </p:nvSpPr>
        <p:spPr>
          <a:xfrm>
            <a:off x="914400" y="3291840"/>
            <a:ext cx="4892040" cy="1737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ADCFC"/>
              </a:buClr>
              <a:buSzPts val="1400"/>
              <a:buFont typeface="Calibri"/>
              <a:buNone/>
            </a:pPr>
            <a:r>
              <a:rPr b="0" i="0" lang="en-US" sz="1400" u="none" cap="none" strike="noStrike">
                <a:solidFill>
                  <a:srgbClr val="CADCFC"/>
                </a:solidFill>
                <a:latin typeface="Calibri"/>
                <a:ea typeface="Calibri"/>
                <a:cs typeface="Calibri"/>
                <a:sym typeface="Calibri"/>
              </a:rPr>
              <a:t>If a candidate asks about a specific company's real interview process, the bot can't verify anything. It works from generic role patterns, not verified data.</a:t>
            </a:r>
            <a:endParaRPr b="0" i="0" sz="1400" u="none" cap="none" strike="noStrike">
              <a:solidFill>
                <a:schemeClr val="dk1"/>
              </a:solidFill>
              <a:latin typeface="Calibri"/>
              <a:ea typeface="Calibri"/>
              <a:cs typeface="Calibri"/>
              <a:sym typeface="Calibri"/>
            </a:endParaRPr>
          </a:p>
        </p:txBody>
      </p:sp>
      <p:sp>
        <p:nvSpPr>
          <p:cNvPr id="170" name="Google Shape;170;p11"/>
          <p:cNvSpPr/>
          <p:nvPr/>
        </p:nvSpPr>
        <p:spPr>
          <a:xfrm>
            <a:off x="6172200" y="2148840"/>
            <a:ext cx="5349240" cy="3017520"/>
          </a:xfrm>
          <a:prstGeom prst="roundRect">
            <a:avLst>
              <a:gd fmla="val 4545" name="adj"/>
            </a:avLst>
          </a:prstGeom>
          <a:solidFill>
            <a:srgbClr val="1E2761"/>
          </a:solidFill>
          <a:ln cap="flat" cmpd="sng" w="12700">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1"/>
          <p:cNvSpPr/>
          <p:nvPr/>
        </p:nvSpPr>
        <p:spPr>
          <a:xfrm>
            <a:off x="6400800" y="2331720"/>
            <a:ext cx="4892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6167"/>
              </a:buClr>
              <a:buSzPts val="1100"/>
              <a:buFont typeface="Calibri"/>
              <a:buNone/>
            </a:pPr>
            <a:r>
              <a:rPr b="1" i="0" lang="en-US" sz="1100" u="none" cap="none" strike="noStrike">
                <a:solidFill>
                  <a:srgbClr val="F96167"/>
                </a:solidFill>
                <a:latin typeface="Calibri"/>
                <a:ea typeface="Calibri"/>
                <a:cs typeface="Calibri"/>
                <a:sym typeface="Calibri"/>
              </a:rPr>
              <a:t>NEXT VERSION</a:t>
            </a:r>
            <a:endParaRPr b="0" i="0" sz="1100" u="none" cap="none" strike="noStrike">
              <a:solidFill>
                <a:schemeClr val="dk1"/>
              </a:solidFill>
              <a:latin typeface="Calibri"/>
              <a:ea typeface="Calibri"/>
              <a:cs typeface="Calibri"/>
              <a:sym typeface="Calibri"/>
            </a:endParaRPr>
          </a:p>
        </p:txBody>
      </p:sp>
      <p:sp>
        <p:nvSpPr>
          <p:cNvPr id="172" name="Google Shape;172;p11"/>
          <p:cNvSpPr/>
          <p:nvPr/>
        </p:nvSpPr>
        <p:spPr>
          <a:xfrm>
            <a:off x="6400800" y="2651760"/>
            <a:ext cx="489204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200"/>
              <a:buFont typeface="Cambria"/>
              <a:buNone/>
            </a:pPr>
            <a:r>
              <a:rPr b="1" i="0" lang="en-US" sz="2200" u="none" cap="none" strike="noStrike">
                <a:solidFill>
                  <a:srgbClr val="FFFFFF"/>
                </a:solidFill>
                <a:latin typeface="Cambria"/>
                <a:ea typeface="Cambria"/>
                <a:cs typeface="Cambria"/>
                <a:sym typeface="Cambria"/>
              </a:rPr>
              <a:t>Add a retrieval layer</a:t>
            </a:r>
            <a:endParaRPr b="0" i="0" sz="2200" u="none" cap="none" strike="noStrike">
              <a:solidFill>
                <a:schemeClr val="dk1"/>
              </a:solidFill>
              <a:latin typeface="Calibri"/>
              <a:ea typeface="Calibri"/>
              <a:cs typeface="Calibri"/>
              <a:sym typeface="Calibri"/>
            </a:endParaRPr>
          </a:p>
        </p:txBody>
      </p:sp>
      <p:sp>
        <p:nvSpPr>
          <p:cNvPr id="173" name="Google Shape;173;p11"/>
          <p:cNvSpPr/>
          <p:nvPr/>
        </p:nvSpPr>
        <p:spPr>
          <a:xfrm>
            <a:off x="6400800" y="3291840"/>
            <a:ext cx="4892040" cy="1737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ADCFC"/>
              </a:buClr>
              <a:buSzPts val="1400"/>
              <a:buFont typeface="Calibri"/>
              <a:buNone/>
            </a:pPr>
            <a:r>
              <a:rPr b="0" i="0" lang="en-US" sz="1400" u="none" cap="none" strike="noStrike">
                <a:solidFill>
                  <a:srgbClr val="CADCFC"/>
                </a:solidFill>
                <a:latin typeface="Calibri"/>
                <a:ea typeface="Calibri"/>
                <a:cs typeface="Calibri"/>
                <a:sym typeface="Calibri"/>
              </a:rPr>
              <a:t>Retrieval over public Glassdoor and Levels.fyi data. So the bot grounds its answers in real reported experiences instead of generic patterns.</a:t>
            </a:r>
            <a:endParaRPr b="0" i="0" sz="1400" u="none" cap="none" strike="noStrike">
              <a:solidFill>
                <a:schemeClr val="dk1"/>
              </a:solidFill>
              <a:latin typeface="Calibri"/>
              <a:ea typeface="Calibri"/>
              <a:cs typeface="Calibri"/>
              <a:sym typeface="Calibri"/>
            </a:endParaRPr>
          </a:p>
        </p:txBody>
      </p:sp>
      <p:sp>
        <p:nvSpPr>
          <p:cNvPr id="174" name="Google Shape;174;p11"/>
          <p:cNvSpPr/>
          <p:nvPr/>
        </p:nvSpPr>
        <p:spPr>
          <a:xfrm>
            <a:off x="685800" y="5440680"/>
            <a:ext cx="10835640" cy="914400"/>
          </a:xfrm>
          <a:prstGeom prst="roundRect">
            <a:avLst>
              <a:gd fmla="val 12000" name="adj"/>
            </a:avLst>
          </a:prstGeom>
          <a:solidFill>
            <a:srgbClr val="1E2761"/>
          </a:solidFill>
          <a:ln cap="flat" cmpd="sng" w="12700">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11"/>
          <p:cNvSpPr/>
          <p:nvPr/>
        </p:nvSpPr>
        <p:spPr>
          <a:xfrm>
            <a:off x="914400" y="5532120"/>
            <a:ext cx="10332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6167"/>
              </a:buClr>
              <a:buSzPts val="1000"/>
              <a:buFont typeface="Calibri"/>
              <a:buNone/>
            </a:pPr>
            <a:r>
              <a:rPr b="1" i="0" lang="en-US" sz="1000" u="none" cap="none" strike="noStrike">
                <a:solidFill>
                  <a:srgbClr val="F96167"/>
                </a:solidFill>
                <a:latin typeface="Calibri"/>
                <a:ea typeface="Calibri"/>
                <a:cs typeface="Calibri"/>
                <a:sym typeface="Calibri"/>
              </a:rPr>
              <a:t>SUBMISSION FOLDER</a:t>
            </a:r>
            <a:endParaRPr b="0" i="0" sz="1000" u="none" cap="none" strike="noStrike">
              <a:solidFill>
                <a:schemeClr val="dk1"/>
              </a:solidFill>
              <a:latin typeface="Calibri"/>
              <a:ea typeface="Calibri"/>
              <a:cs typeface="Calibri"/>
              <a:sym typeface="Calibri"/>
            </a:endParaRPr>
          </a:p>
        </p:txBody>
      </p:sp>
      <p:sp>
        <p:nvSpPr>
          <p:cNvPr id="176" name="Google Shape;176;p11"/>
          <p:cNvSpPr/>
          <p:nvPr/>
        </p:nvSpPr>
        <p:spPr>
          <a:xfrm>
            <a:off x="914400" y="5806440"/>
            <a:ext cx="103327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Public working link  ·  10 planning questions answered  ·  Privacy and terms review  ·  Every test scenario logged</a:t>
            </a:r>
            <a:endParaRPr b="0" i="0" sz="1300" u="none" cap="none" strike="noStrike">
              <a:solidFill>
                <a:schemeClr val="dk1"/>
              </a:solidFill>
              <a:latin typeface="Calibri"/>
              <a:ea typeface="Calibri"/>
              <a:cs typeface="Calibri"/>
              <a:sym typeface="Calibri"/>
            </a:endParaRPr>
          </a:p>
        </p:txBody>
      </p:sp>
      <p:sp>
        <p:nvSpPr>
          <p:cNvPr id="177" name="Google Shape;177;p11"/>
          <p:cNvSpPr/>
          <p:nvPr/>
        </p:nvSpPr>
        <p:spPr>
          <a:xfrm>
            <a:off x="685800" y="6537960"/>
            <a:ext cx="1097280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000"/>
              <a:buFont typeface="Cambria"/>
              <a:buNone/>
            </a:pPr>
            <a:r>
              <a:rPr b="1" i="1" lang="en-US" sz="2000" u="none" cap="none" strike="noStrike">
                <a:solidFill>
                  <a:srgbClr val="FFFFFF"/>
                </a:solidFill>
                <a:latin typeface="Cambria"/>
                <a:ea typeface="Cambria"/>
                <a:cs typeface="Cambria"/>
                <a:sym typeface="Cambria"/>
              </a:rPr>
              <a:t>Thanks for watching.</a:t>
            </a:r>
            <a:endParaRPr b="0" i="0" sz="20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